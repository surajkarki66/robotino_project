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50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41" r:id="rId14"/>
    <p:sldId id="335" r:id="rId15"/>
    <p:sldId id="343" r:id="rId16"/>
    <p:sldId id="342" r:id="rId17"/>
    <p:sldId id="344" r:id="rId18"/>
    <p:sldId id="345" r:id="rId19"/>
    <p:sldId id="357" r:id="rId20"/>
    <p:sldId id="346" r:id="rId21"/>
    <p:sldId id="358" r:id="rId22"/>
    <p:sldId id="359" r:id="rId23"/>
    <p:sldId id="360" r:id="rId24"/>
    <p:sldId id="347" r:id="rId25"/>
    <p:sldId id="349" r:id="rId26"/>
    <p:sldId id="348" r:id="rId27"/>
    <p:sldId id="350" r:id="rId28"/>
    <p:sldId id="351" r:id="rId29"/>
    <p:sldId id="352" r:id="rId30"/>
    <p:sldId id="353" r:id="rId31"/>
    <p:sldId id="354" r:id="rId32"/>
    <p:sldId id="355" r:id="rId33"/>
    <p:sldId id="356" r:id="rId34"/>
    <p:sldId id="364" r:id="rId35"/>
    <p:sldId id="329" r:id="rId36"/>
    <p:sldId id="369" r:id="rId37"/>
    <p:sldId id="367" r:id="rId38"/>
    <p:sldId id="368" r:id="rId39"/>
    <p:sldId id="363" r:id="rId40"/>
    <p:sldId id="362" r:id="rId41"/>
    <p:sldId id="361" r:id="rId42"/>
    <p:sldId id="371" r:id="rId43"/>
    <p:sldId id="331" r:id="rId44"/>
    <p:sldId id="365" r:id="rId45"/>
    <p:sldId id="372" r:id="rId46"/>
    <p:sldId id="366" r:id="rId47"/>
    <p:sldId id="266" r:id="rId48"/>
    <p:sldId id="267" r:id="rId4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47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6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44012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10773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9367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136101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645770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846422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978246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65732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601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95448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1945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379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376653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572204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880798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6.png"/><Relationship Id="rId5" Type="http://schemas.openxmlformats.org/officeDocument/2006/relationships/image" Target="../media/image5.wmf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487308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 dirty="0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817669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163078"/>
            <a:ext cx="60933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; M.Sc. Philip Maurice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Scheidig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;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B.Sc</a:t>
            </a:r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 Roman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Sliwinski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Currently, generation of path network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is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Changing paths for new factory layouts takes a lot of </a:t>
            </a:r>
            <a:r>
              <a:rPr lang="en-US" b="1" dirty="0">
                <a:latin typeface="HSBI Lausanne 300"/>
              </a:rPr>
              <a:t>time</a:t>
            </a:r>
            <a:r>
              <a:rPr lang="en-US" dirty="0">
                <a:latin typeface="HSBI Lausanne 300"/>
              </a:rPr>
              <a:t> and </a:t>
            </a:r>
            <a:r>
              <a:rPr lang="en-US" b="1" dirty="0">
                <a:latin typeface="HSBI Lausanne 300"/>
              </a:rPr>
              <a:t>effort</a:t>
            </a:r>
            <a:r>
              <a:rPr lang="en-US" dirty="0">
                <a:latin typeface="HSBI Lausanne 300"/>
              </a:rPr>
              <a:t>.</a:t>
            </a:r>
            <a:endParaRPr lang="en-US" b="1" dirty="0"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Kreis, Grafiken, Clipart, Grafikdesign enthält.&#10;&#10;KI-generierte Inhalte können fehlerhaft sein.">
            <a:extLst>
              <a:ext uri="{FF2B5EF4-FFF2-40B4-BE49-F238E27FC236}">
                <a16:creationId xmlns:a16="http://schemas.microsoft.com/office/drawing/2014/main" id="{FA36C31A-1069-46EC-736D-69563DE59D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590" y="1844640"/>
            <a:ext cx="2520531" cy="2520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To generate a map of the environment including the stations of the IoT factory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Kreis enthält.&#10;&#10;KI-generierte Inhalte können fehlerhaft sein.">
            <a:extLst>
              <a:ext uri="{FF2B5EF4-FFF2-40B4-BE49-F238E27FC236}">
                <a16:creationId xmlns:a16="http://schemas.microsoft.com/office/drawing/2014/main" id="{F99D1F05-4059-D1B1-3CAF-D0D233C286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278" y="1800360"/>
            <a:ext cx="2884562" cy="2884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by which a mobile robot build a map of the environment and, at the same time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Optimization, Graph-based SLAM, etc.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 (Graph-based SLAM)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(odometry constraint,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 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242424"/>
                </a:solidFill>
                <a:latin typeface="HSBI Lausanne 300"/>
              </a:rPr>
              <a:t>It </a:t>
            </a:r>
            <a:r>
              <a:rPr lang="en-US" b="0" i="0" dirty="0">
                <a:solidFill>
                  <a:srgbClr val="242424"/>
                </a:solidFill>
                <a:effectLst/>
                <a:latin typeface="HSBI Lausanne 300"/>
              </a:rPr>
              <a:t>is a technique to improve the estimated poses (positions and orientations) of a robot as it moves through an environment.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to minimize the errors in the estimated poses by considering the relationships and constraints between them.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This is typically achieved by minimizing a global error function.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 This function measures the difference between the observed constraints and the predicted constraints based on the current pose estimates.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The optimization process adjusts the poses to reduce this error, resulting in a more accurate and consistent set of poses.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742183D2-AD73-9AC2-3B84-5411A6B0E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375" y="2318659"/>
            <a:ext cx="5863796" cy="37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04594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16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Where,f(n) is </a:t>
            </a:r>
            <a:r>
              <a:rPr lang="en-US" dirty="0">
                <a:latin typeface="-apple-system"/>
              </a:rPr>
              <a:t>the e</a:t>
            </a:r>
            <a:r>
              <a:rPr lang="en-US" b="0" i="0" dirty="0">
                <a:effectLst/>
                <a:latin typeface="-apple-system"/>
              </a:rPr>
              <a:t>stimated total cost of the path through node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 g(n) is </a:t>
            </a:r>
            <a:r>
              <a:rPr lang="en-US" dirty="0">
                <a:latin typeface="-apple-system"/>
              </a:rPr>
              <a:t>a</a:t>
            </a:r>
            <a:r>
              <a:rPr lang="en-US" b="0" i="0" dirty="0">
                <a:effectLst/>
                <a:latin typeface="-apple-system"/>
              </a:rPr>
              <a:t>ctual cost from the start node to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stimated cost (heuristic) from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 to the goal node.</a:t>
            </a: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B4ECE7E-339C-DD4E-9D1B-D91E5D286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553" y="4750499"/>
            <a:ext cx="4478854" cy="132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Completeness:</a:t>
            </a:r>
            <a:r>
              <a:rPr lang="en-US" dirty="0">
                <a:latin typeface="HSBI Lausanne 300"/>
              </a:rPr>
              <a:t> </a:t>
            </a:r>
            <a:r>
              <a:rPr lang="en-US" i="0" dirty="0">
                <a:effectLst/>
                <a:latin typeface="HSBI Lausanne 300"/>
              </a:rPr>
              <a:t>If a path exists, A* will always find it.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The performance of A* depends heavily on the heuristic function chosen.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Works with different heuristics like Manhattan distance, Euclidean distance, or custom heuristics depending on the problem.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9170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93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18</a:t>
            </a:r>
            <a:endParaRPr lang="de-DE" sz="900" b="0" strike="noStrike" spc="-1" dirty="0">
              <a:solidFill>
                <a:schemeClr val="dk1"/>
              </a:solidFill>
              <a:latin typeface="Times New Roman"/>
              <a:ea typeface="DejaVu Sans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Initialization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Setting up two essential lists: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“open” list: initialize with starting node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“closed” list: begins empty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Each node stores 4 critical information: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g: The actual cost from the start node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h: The estimated cost to the goal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f: The sum of g and h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parent: Reference to the previous node (for path reconstruction)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19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Main Loop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05192D"/>
                </a:solidFill>
                <a:latin typeface="HSBI Lausanne 300"/>
              </a:rPr>
              <a:t>The main loop will </a:t>
            </a:r>
            <a:r>
              <a:rPr lang="en-US" b="0" i="0" dirty="0">
                <a:solidFill>
                  <a:srgbClr val="05192D"/>
                </a:solidFill>
                <a:effectLst/>
                <a:latin typeface="HSBI Lausanne 300"/>
              </a:rPr>
              <a:t>continues until either: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goal is reached (success)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open list becomes empty (failure - no path exists)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During each iteration,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Selects the most promising node (lowest f value) from the open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Moves it to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latin typeface="HSBI Lausanne 300"/>
              </a:rPr>
              <a:t>Examines</a:t>
            </a:r>
            <a:r>
              <a:rPr lang="de-DE" dirty="0">
                <a:latin typeface="HSBI Lausanne 300"/>
              </a:rPr>
              <a:t> all </a:t>
            </a:r>
            <a:r>
              <a:rPr lang="de-DE" dirty="0" err="1">
                <a:latin typeface="HSBI Lausanne 300"/>
              </a:rPr>
              <a:t>neighboring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nodes</a:t>
            </a:r>
            <a:endParaRPr lang="de-DE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092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Neighbor Examination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For each neighbor,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Skips nodes already in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Calculates a tentative g score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Updates node values if a better path is found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Adds new nodes to the open list</a:t>
            </a: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8467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Path Reconstruction</a:t>
            </a: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Once the goal is reached, the algorithm works backward through the parent references to construct the optimal path from start to goal.</a:t>
            </a:r>
          </a:p>
          <a:p>
            <a:pPr lvl="2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5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27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28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 or a stopping condition is met.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30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spc="-1" dirty="0">
                <a:solidFill>
                  <a:srgbClr val="000000"/>
                </a:solidFill>
                <a:latin typeface="HSBI Lausanne 300"/>
              </a:rPr>
              <a:t>But it rewires the tree in a way, that a given search radius and always tries to find shorter path from the randomly sampled node back to the start in the tree.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Experimental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setup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Programming Language: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​MATLAB </a:t>
            </a:r>
            <a:r>
              <a:rPr lang="de-DE" b="0" i="0" dirty="0">
                <a:solidFill>
                  <a:srgbClr val="001D35"/>
                </a:solidFill>
                <a:effectLst/>
                <a:latin typeface="Google Sans"/>
              </a:rPr>
              <a:t>R2025a</a:t>
            </a:r>
            <a:r>
              <a:rPr lang="en-GB" dirty="0">
                <a:latin typeface="HSBI Lausanne 300"/>
              </a:rPr>
              <a:t>: High-level programming language, widely used for numeric computing, data analysis, algorithm development, simulation and visualization.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Toolboxes: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Lidar Toolbox: MATLAB’s toolbox that provides algorithms, apps, and tools for working with LiDAR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Navigation Toolbox: Another MATLAB’s toolbox that provides algorithms and analysis tools for motion planning, SLAM, and inertial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GB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7801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33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Overview of Output Files From Map Generation Process: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.mat File: Contains the occupancy grid map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yaml</a:t>
            </a:r>
            <a:r>
              <a:rPr lang="en-US" dirty="0">
                <a:effectLst/>
                <a:latin typeface="HSBI Lausanne 300"/>
              </a:rPr>
              <a:t> File: Stores image metadata for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pgm</a:t>
            </a:r>
            <a:r>
              <a:rPr lang="en-US" dirty="0">
                <a:effectLst/>
                <a:latin typeface="HSBI Lausanne 300"/>
              </a:rPr>
              <a:t> File: Grayscale image format of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effectLst/>
                <a:latin typeface="HSBI Lausanne 300"/>
              </a:rPr>
              <a:t>.</a:t>
            </a:r>
            <a:r>
              <a:rPr lang="en-US" dirty="0" err="1">
                <a:effectLst/>
                <a:latin typeface="HSBI Lausanne 300"/>
              </a:rPr>
              <a:t>png</a:t>
            </a:r>
            <a:r>
              <a:rPr lang="en-US" dirty="0">
                <a:effectLst/>
                <a:latin typeface="HSBI Lausanne 300"/>
              </a:rPr>
              <a:t> File: Additional image format of the occupancy grid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 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Entwurf, Zeichnung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171" y="2400170"/>
            <a:ext cx="4767943" cy="385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968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5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Video of Map Generation of IOT Factory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Video 4">
            <a:hlinkClick r:id="" action="ppaction://media"/>
            <a:extLst>
              <a:ext uri="{FF2B5EF4-FFF2-40B4-BE49-F238E27FC236}">
                <a16:creationId xmlns:a16="http://schemas.microsoft.com/office/drawing/2014/main" id="{BCD9E77F-1BFD-DAC3-164E-0C6F565E6D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067351" y="2569566"/>
            <a:ext cx="6057298" cy="34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9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33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 with Different Data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 descr="Ein Bild, das Entwurf, Zeichnung, Darstellung, Clipart enthält.&#10;&#10;KI-generierte Inhalte können fehlerhaft sein.">
            <a:extLst>
              <a:ext uri="{FF2B5EF4-FFF2-40B4-BE49-F238E27FC236}">
                <a16:creationId xmlns:a16="http://schemas.microsoft.com/office/drawing/2014/main" id="{23A4F657-AFED-8F1A-DCF0-5CD32D404C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865" y="2427514"/>
            <a:ext cx="4036568" cy="3680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D6035E6-9879-D953-CDFF-6225C0D8C3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7200" y="2518535"/>
            <a:ext cx="4036568" cy="3498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5044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37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Warehouse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159" y="2406302"/>
            <a:ext cx="4741685" cy="36709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1DA42FA-594B-0E76-A648-1B6D343BD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879" y="2321555"/>
            <a:ext cx="4951961" cy="378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1405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38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Overview of Output Files From Path Network Generation Process: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effectLst/>
                <a:latin typeface="HSBI Lausanne 300"/>
              </a:rPr>
              <a:t>navigation-paths.xml: </a:t>
            </a:r>
            <a:r>
              <a:rPr lang="en-US" dirty="0">
                <a:effectLst/>
                <a:latin typeface="HSBI Lausanne 300"/>
              </a:rPr>
              <a:t>contains navigation paths between nodes (</a:t>
            </a:r>
            <a:r>
              <a:rPr lang="en-US" dirty="0" err="1">
                <a:effectLst/>
                <a:latin typeface="HSBI Lausanne 300"/>
              </a:rPr>
              <a:t>docking+parking</a:t>
            </a:r>
            <a:r>
              <a:rPr lang="en-US" dirty="0">
                <a:latin typeface="HSBI Lausanne 300"/>
              </a:rPr>
              <a:t>)</a:t>
            </a:r>
            <a:r>
              <a:rPr lang="en-US" dirty="0">
                <a:effectLst/>
                <a:latin typeface="HSBI Lausanne 300"/>
              </a:rPr>
              <a:t>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effectLst/>
                <a:latin typeface="HSBI Lausanne 300"/>
              </a:rPr>
              <a:t>positions.lisp</a:t>
            </a:r>
            <a:r>
              <a:rPr lang="de-DE" dirty="0">
                <a:effectLst/>
                <a:latin typeface="HSBI Lausanne 300"/>
              </a:rPr>
              <a:t>: </a:t>
            </a:r>
            <a:r>
              <a:rPr lang="en-US" dirty="0">
                <a:effectLst/>
                <a:latin typeface="HSBI Lausanne 300"/>
              </a:rPr>
              <a:t>A LISP file listing the coordinates of all nodes.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effectLst/>
                <a:latin typeface="HSBI Lausanne 300"/>
              </a:rPr>
              <a:t>stations.lisp</a:t>
            </a:r>
            <a:r>
              <a:rPr lang="en-US" dirty="0">
                <a:effectLst/>
                <a:latin typeface="HSBI Lausanne 300"/>
              </a:rPr>
              <a:t>: A LISP file containing station coordinates and their closest associated nodes.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de-DE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de-DE" dirty="0">
              <a:effectLst/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723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39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Network Generated by RRT* and A* on IOT Factory’s Map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57" y="2452957"/>
            <a:ext cx="5751787" cy="3577729"/>
          </a:xfrm>
          <a:prstGeom prst="rect">
            <a:avLst/>
          </a:prstGeom>
        </p:spPr>
      </p:pic>
      <p:pic>
        <p:nvPicPr>
          <p:cNvPr id="2" name="Grafik 1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866771E7-BB3A-E6C2-5095-0EA6604D9B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9544" y="2452957"/>
            <a:ext cx="5560295" cy="3494314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8BEECE4-5EA0-744E-1222-4955120BE313}"/>
              </a:ext>
            </a:extLst>
          </p:cNvPr>
          <p:cNvSpPr txBox="1"/>
          <p:nvPr/>
        </p:nvSpPr>
        <p:spPr>
          <a:xfrm>
            <a:off x="2090058" y="5985563"/>
            <a:ext cx="1774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latin typeface="HSBI Lausanne 300"/>
              </a:rPr>
              <a:t>Generated</a:t>
            </a:r>
            <a:r>
              <a:rPr lang="de-DE" sz="1400" dirty="0">
                <a:latin typeface="HSBI Lausanne 300"/>
              </a:rPr>
              <a:t> </a:t>
            </a:r>
            <a:r>
              <a:rPr lang="de-DE" sz="1400" dirty="0" err="1">
                <a:latin typeface="HSBI Lausanne 300"/>
              </a:rPr>
              <a:t>by</a:t>
            </a:r>
            <a:r>
              <a:rPr lang="de-DE" sz="1400" dirty="0">
                <a:latin typeface="HSBI Lausanne 300"/>
              </a:rPr>
              <a:t> RRT*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185D8C8-F40C-F8E0-DFF2-F8F1F003D603}"/>
              </a:ext>
            </a:extLst>
          </p:cNvPr>
          <p:cNvSpPr txBox="1"/>
          <p:nvPr/>
        </p:nvSpPr>
        <p:spPr>
          <a:xfrm>
            <a:off x="7659986" y="5974493"/>
            <a:ext cx="1774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latin typeface="HSBI Lausanne 300"/>
              </a:rPr>
              <a:t>Generated</a:t>
            </a:r>
            <a:r>
              <a:rPr lang="de-DE" sz="1400" dirty="0">
                <a:latin typeface="HSBI Lausanne 300"/>
              </a:rPr>
              <a:t> </a:t>
            </a:r>
            <a:r>
              <a:rPr lang="de-DE" sz="1400" dirty="0" err="1">
                <a:latin typeface="HSBI Lausanne 300"/>
              </a:rPr>
              <a:t>by</a:t>
            </a:r>
            <a:r>
              <a:rPr lang="de-DE" sz="1400" dirty="0">
                <a:latin typeface="HSBI Lausanne 300"/>
              </a:rPr>
              <a:t> A*</a:t>
            </a:r>
          </a:p>
        </p:txBody>
      </p:sp>
    </p:spTree>
    <p:extLst>
      <p:ext uri="{BB962C8B-B14F-4D97-AF65-F5344CB8AC3E}">
        <p14:creationId xmlns:p14="http://schemas.microsoft.com/office/powerpoint/2010/main" val="30416970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40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RRT* and A* on Warehouse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9344" y="2376757"/>
            <a:ext cx="4539456" cy="37520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866771E7-BB3A-E6C2-5095-0EA6604D9B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06497" y="2376757"/>
            <a:ext cx="4648303" cy="389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0174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41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Strengths of The Approach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drift is mitigated through loop closure detection.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Pose graph optimization ensured globally consistent and robust map construction.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A* algorithm produced optimal and shortest paths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RRT* algorithm is also producing fairly optimal paths.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 err="1">
                <a:effectLst/>
                <a:latin typeface="HSBI Lausanne 300"/>
              </a:rPr>
              <a:t>Limitations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Generated map of IOT factory is not better because: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only using LiDAR data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Sensor noise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Not collecting LiDAR data in a proper way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Prebuilt map is using to generate optimized path network on the map.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005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C</a:t>
            </a:r>
            <a:r>
              <a:rPr lang="de-DE" b="1" dirty="0">
                <a:effectLst/>
                <a:latin typeface="HSBI Lausanne 300"/>
              </a:rPr>
              <a:t>hallenges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Getting an optimized path network on map requires extensive work: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Need to set world co-ordinate origin properly for the map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So that, all nodes, stations, and docking points must align properly on the map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Sometimes, the generated maps are tilted or oriented, then transformation of them is required.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Converting the result of path network generation into Festo Software compatible format is difficult.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Performed custom mapping to get navigation-paths.xml, </a:t>
            </a:r>
            <a:r>
              <a:rPr lang="en-US" dirty="0" err="1">
                <a:latin typeface="HSBI Lausanne 300"/>
              </a:rPr>
              <a:t>stations.lisp</a:t>
            </a:r>
            <a:r>
              <a:rPr lang="en-US" dirty="0">
                <a:latin typeface="HSBI Lausanne 300"/>
              </a:rPr>
              <a:t>, and </a:t>
            </a:r>
            <a:r>
              <a:rPr lang="en-US" dirty="0" err="1">
                <a:latin typeface="HSBI Lausanne 300"/>
              </a:rPr>
              <a:t>positions.lisp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80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strike="noStrike" spc="-1" dirty="0">
                <a:solidFill>
                  <a:srgbClr val="000000"/>
                </a:solidFill>
                <a:latin typeface="HSBI Lausanne 300"/>
              </a:rPr>
              <a:t>Future Work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Integrating odometry and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IMU data to generate better occupancy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Using more sophisticated SLAM algorithms like </a:t>
            </a:r>
            <a:r>
              <a:rPr lang="de-DE" dirty="0" err="1">
                <a:latin typeface="HSBI Lausanne 300"/>
              </a:rPr>
              <a:t>Cartographer</a:t>
            </a:r>
            <a:r>
              <a:rPr lang="de-DE" dirty="0">
                <a:latin typeface="HSBI Lausanne 300"/>
              </a:rPr>
              <a:t>, LOAM, etc.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Working with different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Testing the generated path networks on </a:t>
            </a:r>
            <a:r>
              <a:rPr lang="en-US" spc="-1" dirty="0" err="1">
                <a:solidFill>
                  <a:srgbClr val="000000"/>
                </a:solidFill>
                <a:latin typeface="HSBI Lausanne 300"/>
              </a:rPr>
              <a:t>Robotino’s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Festo Software.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0254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45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46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2304</Words>
  <Application>Microsoft Office PowerPoint</Application>
  <PresentationFormat>Breitbild</PresentationFormat>
  <Paragraphs>444</Paragraphs>
  <Slides>46</Slides>
  <Notes>46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46</vt:i4>
      </vt:variant>
    </vt:vector>
  </HeadingPairs>
  <TitlesOfParts>
    <vt:vector size="57" baseType="lpstr">
      <vt:lpstr>-apple-system</vt:lpstr>
      <vt:lpstr>Arial</vt:lpstr>
      <vt:lpstr>Google Sans</vt:lpstr>
      <vt:lpstr>HSBI Lausanne 300</vt:lpstr>
      <vt:lpstr>source-serif-pro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1657</cp:revision>
  <dcterms:created xsi:type="dcterms:W3CDTF">2022-09-29T08:30:07Z</dcterms:created>
  <dcterms:modified xsi:type="dcterms:W3CDTF">2025-09-17T22:16:50Z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