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  <p:sldMasterId id="2147483653" r:id="rId3"/>
  </p:sldMasterIdLst>
  <p:notesMasterIdLst>
    <p:notesMasterId r:id="rId45"/>
  </p:notesMasterIdLst>
  <p:sldIdLst>
    <p:sldId id="256" r:id="rId4"/>
    <p:sldId id="257" r:id="rId5"/>
    <p:sldId id="268" r:id="rId6"/>
    <p:sldId id="327" r:id="rId7"/>
    <p:sldId id="328" r:id="rId8"/>
    <p:sldId id="333" r:id="rId9"/>
    <p:sldId id="332" r:id="rId10"/>
    <p:sldId id="334" r:id="rId11"/>
    <p:sldId id="336" r:id="rId12"/>
    <p:sldId id="337" r:id="rId13"/>
    <p:sldId id="338" r:id="rId14"/>
    <p:sldId id="339" r:id="rId15"/>
    <p:sldId id="340" r:id="rId16"/>
    <p:sldId id="341" r:id="rId17"/>
    <p:sldId id="335" r:id="rId18"/>
    <p:sldId id="343" r:id="rId19"/>
    <p:sldId id="342" r:id="rId20"/>
    <p:sldId id="344" r:id="rId21"/>
    <p:sldId id="345" r:id="rId22"/>
    <p:sldId id="357" r:id="rId23"/>
    <p:sldId id="346" r:id="rId24"/>
    <p:sldId id="358" r:id="rId25"/>
    <p:sldId id="359" r:id="rId26"/>
    <p:sldId id="360" r:id="rId27"/>
    <p:sldId id="347" r:id="rId28"/>
    <p:sldId id="349" r:id="rId29"/>
    <p:sldId id="348" r:id="rId30"/>
    <p:sldId id="350" r:id="rId31"/>
    <p:sldId id="351" r:id="rId32"/>
    <p:sldId id="352" r:id="rId33"/>
    <p:sldId id="353" r:id="rId34"/>
    <p:sldId id="354" r:id="rId35"/>
    <p:sldId id="355" r:id="rId36"/>
    <p:sldId id="356" r:id="rId37"/>
    <p:sldId id="329" r:id="rId38"/>
    <p:sldId id="363" r:id="rId39"/>
    <p:sldId id="361" r:id="rId40"/>
    <p:sldId id="362" r:id="rId41"/>
    <p:sldId id="331" r:id="rId42"/>
    <p:sldId id="266" r:id="rId43"/>
    <p:sldId id="267" r:id="rId4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78" autoAdjust="0"/>
    <p:restoredTop sz="94660"/>
  </p:normalViewPr>
  <p:slideViewPr>
    <p:cSldViewPr snapToGrid="0">
      <p:cViewPr varScale="1">
        <p:scale>
          <a:sx n="59" d="100"/>
          <a:sy n="59" d="100"/>
        </p:scale>
        <p:origin x="9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theme" Target="theme/theme1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move the slide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2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22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23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4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7B252F2-9243-4FE3-B6D7-3E757092219C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‹Nr.›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3225" cy="3084513"/>
          </a:xfrm>
          <a:prstGeom prst="rect">
            <a:avLst/>
          </a:prstGeom>
          <a:ln w="0">
            <a:noFill/>
          </a:ln>
        </p:spPr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FF70232-011C-4792-9650-B57DD89D0117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160307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571087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281330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259576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851342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002085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83522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633367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11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643486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12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404735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13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44962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14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012311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15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45185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16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648596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17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92681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D1DA9-128E-B1C2-5EAC-4495F6C5B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>
            <a:extLst>
              <a:ext uri="{FF2B5EF4-FFF2-40B4-BE49-F238E27FC236}">
                <a16:creationId xmlns:a16="http://schemas.microsoft.com/office/drawing/2014/main" id="{3218C735-4469-A134-B1FF-C3387FE58F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>
            <a:extLst>
              <a:ext uri="{FF2B5EF4-FFF2-40B4-BE49-F238E27FC236}">
                <a16:creationId xmlns:a16="http://schemas.microsoft.com/office/drawing/2014/main" id="{356E809C-300A-48FC-91C9-EE6117009BA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>
            <a:extLst>
              <a:ext uri="{FF2B5EF4-FFF2-40B4-BE49-F238E27FC236}">
                <a16:creationId xmlns:a16="http://schemas.microsoft.com/office/drawing/2014/main" id="{0A81C180-35A5-1DC5-56A4-BFBAD3A29A16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18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322108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7E738-0184-93DC-2973-191D9E713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>
            <a:extLst>
              <a:ext uri="{FF2B5EF4-FFF2-40B4-BE49-F238E27FC236}">
                <a16:creationId xmlns:a16="http://schemas.microsoft.com/office/drawing/2014/main" id="{A4AA2D89-9D83-6BE1-54F7-2841FEB51B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>
            <a:extLst>
              <a:ext uri="{FF2B5EF4-FFF2-40B4-BE49-F238E27FC236}">
                <a16:creationId xmlns:a16="http://schemas.microsoft.com/office/drawing/2014/main" id="{D2D43F4C-44A6-64CC-FC7E-3312873CD2D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>
            <a:extLst>
              <a:ext uri="{FF2B5EF4-FFF2-40B4-BE49-F238E27FC236}">
                <a16:creationId xmlns:a16="http://schemas.microsoft.com/office/drawing/2014/main" id="{9CC9C043-D99C-408F-6D97-C03CE95F281B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19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668314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7E738-0184-93DC-2973-191D9E713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>
            <a:extLst>
              <a:ext uri="{FF2B5EF4-FFF2-40B4-BE49-F238E27FC236}">
                <a16:creationId xmlns:a16="http://schemas.microsoft.com/office/drawing/2014/main" id="{A4AA2D89-9D83-6BE1-54F7-2841FEB51B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>
            <a:extLst>
              <a:ext uri="{FF2B5EF4-FFF2-40B4-BE49-F238E27FC236}">
                <a16:creationId xmlns:a16="http://schemas.microsoft.com/office/drawing/2014/main" id="{D2D43F4C-44A6-64CC-FC7E-3312873CD2D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>
            <a:extLst>
              <a:ext uri="{FF2B5EF4-FFF2-40B4-BE49-F238E27FC236}">
                <a16:creationId xmlns:a16="http://schemas.microsoft.com/office/drawing/2014/main" id="{9CC9C043-D99C-408F-6D97-C03CE95F281B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20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244012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B125D-F3A9-A424-A7F8-0C34BAA9A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>
            <a:extLst>
              <a:ext uri="{FF2B5EF4-FFF2-40B4-BE49-F238E27FC236}">
                <a16:creationId xmlns:a16="http://schemas.microsoft.com/office/drawing/2014/main" id="{2C7E8540-FD1C-8DC9-2264-858EA95B52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>
            <a:extLst>
              <a:ext uri="{FF2B5EF4-FFF2-40B4-BE49-F238E27FC236}">
                <a16:creationId xmlns:a16="http://schemas.microsoft.com/office/drawing/2014/main" id="{7AC5AABC-06FC-3453-1911-72778A1783C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>
            <a:extLst>
              <a:ext uri="{FF2B5EF4-FFF2-40B4-BE49-F238E27FC236}">
                <a16:creationId xmlns:a16="http://schemas.microsoft.com/office/drawing/2014/main" id="{5B12AD18-D3E2-312A-EDE3-B71FCB8BE61E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21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348012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B125D-F3A9-A424-A7F8-0C34BAA9A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>
            <a:extLst>
              <a:ext uri="{FF2B5EF4-FFF2-40B4-BE49-F238E27FC236}">
                <a16:creationId xmlns:a16="http://schemas.microsoft.com/office/drawing/2014/main" id="{2C7E8540-FD1C-8DC9-2264-858EA95B52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>
            <a:extLst>
              <a:ext uri="{FF2B5EF4-FFF2-40B4-BE49-F238E27FC236}">
                <a16:creationId xmlns:a16="http://schemas.microsoft.com/office/drawing/2014/main" id="{7AC5AABC-06FC-3453-1911-72778A1783C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>
            <a:extLst>
              <a:ext uri="{FF2B5EF4-FFF2-40B4-BE49-F238E27FC236}">
                <a16:creationId xmlns:a16="http://schemas.microsoft.com/office/drawing/2014/main" id="{5B12AD18-D3E2-312A-EDE3-B71FCB8BE61E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22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010773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B125D-F3A9-A424-A7F8-0C34BAA9A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>
            <a:extLst>
              <a:ext uri="{FF2B5EF4-FFF2-40B4-BE49-F238E27FC236}">
                <a16:creationId xmlns:a16="http://schemas.microsoft.com/office/drawing/2014/main" id="{2C7E8540-FD1C-8DC9-2264-858EA95B52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>
            <a:extLst>
              <a:ext uri="{FF2B5EF4-FFF2-40B4-BE49-F238E27FC236}">
                <a16:creationId xmlns:a16="http://schemas.microsoft.com/office/drawing/2014/main" id="{7AC5AABC-06FC-3453-1911-72778A1783C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>
            <a:extLst>
              <a:ext uri="{FF2B5EF4-FFF2-40B4-BE49-F238E27FC236}">
                <a16:creationId xmlns:a16="http://schemas.microsoft.com/office/drawing/2014/main" id="{5B12AD18-D3E2-312A-EDE3-B71FCB8BE61E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23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89367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B125D-F3A9-A424-A7F8-0C34BAA9A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>
            <a:extLst>
              <a:ext uri="{FF2B5EF4-FFF2-40B4-BE49-F238E27FC236}">
                <a16:creationId xmlns:a16="http://schemas.microsoft.com/office/drawing/2014/main" id="{2C7E8540-FD1C-8DC9-2264-858EA95B52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>
            <a:extLst>
              <a:ext uri="{FF2B5EF4-FFF2-40B4-BE49-F238E27FC236}">
                <a16:creationId xmlns:a16="http://schemas.microsoft.com/office/drawing/2014/main" id="{7AC5AABC-06FC-3453-1911-72778A1783C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>
            <a:extLst>
              <a:ext uri="{FF2B5EF4-FFF2-40B4-BE49-F238E27FC236}">
                <a16:creationId xmlns:a16="http://schemas.microsoft.com/office/drawing/2014/main" id="{5B12AD18-D3E2-312A-EDE3-B71FCB8BE61E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24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136101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6FF9D-BA1C-FF67-EA65-052098F2F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>
            <a:extLst>
              <a:ext uri="{FF2B5EF4-FFF2-40B4-BE49-F238E27FC236}">
                <a16:creationId xmlns:a16="http://schemas.microsoft.com/office/drawing/2014/main" id="{705BACD9-FFCD-5606-84B2-1FD7C606A1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>
            <a:extLst>
              <a:ext uri="{FF2B5EF4-FFF2-40B4-BE49-F238E27FC236}">
                <a16:creationId xmlns:a16="http://schemas.microsoft.com/office/drawing/2014/main" id="{36E82845-4ADD-917F-6E4E-CD9C3A7EE5C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>
            <a:extLst>
              <a:ext uri="{FF2B5EF4-FFF2-40B4-BE49-F238E27FC236}">
                <a16:creationId xmlns:a16="http://schemas.microsoft.com/office/drawing/2014/main" id="{3E351BB9-1712-19CC-80BB-A999E4A21164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25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57406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09FA1-1044-0B76-19C7-136992B8E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>
            <a:extLst>
              <a:ext uri="{FF2B5EF4-FFF2-40B4-BE49-F238E27FC236}">
                <a16:creationId xmlns:a16="http://schemas.microsoft.com/office/drawing/2014/main" id="{74F120CC-5B01-98FF-36D9-B24277A7F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>
            <a:extLst>
              <a:ext uri="{FF2B5EF4-FFF2-40B4-BE49-F238E27FC236}">
                <a16:creationId xmlns:a16="http://schemas.microsoft.com/office/drawing/2014/main" id="{02612714-4366-4CA9-9440-208489EA15A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>
            <a:extLst>
              <a:ext uri="{FF2B5EF4-FFF2-40B4-BE49-F238E27FC236}">
                <a16:creationId xmlns:a16="http://schemas.microsoft.com/office/drawing/2014/main" id="{1D6527B0-087E-F712-C2FD-74EE9DCB8D97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0527924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520C8-D50C-AD66-5FDF-A60E96A98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>
            <a:extLst>
              <a:ext uri="{FF2B5EF4-FFF2-40B4-BE49-F238E27FC236}">
                <a16:creationId xmlns:a16="http://schemas.microsoft.com/office/drawing/2014/main" id="{567A2FEA-EDB7-1D65-CC51-DB4D71F050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>
            <a:extLst>
              <a:ext uri="{FF2B5EF4-FFF2-40B4-BE49-F238E27FC236}">
                <a16:creationId xmlns:a16="http://schemas.microsoft.com/office/drawing/2014/main" id="{3270E0CD-D447-476E-044E-82384D91FC5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>
            <a:extLst>
              <a:ext uri="{FF2B5EF4-FFF2-40B4-BE49-F238E27FC236}">
                <a16:creationId xmlns:a16="http://schemas.microsoft.com/office/drawing/2014/main" id="{4D72EB43-B86C-943D-EF6E-C6BF6533F285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27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132444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C5CD4-4706-6277-FA08-79C4C6BB8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>
            <a:extLst>
              <a:ext uri="{FF2B5EF4-FFF2-40B4-BE49-F238E27FC236}">
                <a16:creationId xmlns:a16="http://schemas.microsoft.com/office/drawing/2014/main" id="{03F50AF0-D2FE-79D3-5063-92FA3B80C9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>
            <a:extLst>
              <a:ext uri="{FF2B5EF4-FFF2-40B4-BE49-F238E27FC236}">
                <a16:creationId xmlns:a16="http://schemas.microsoft.com/office/drawing/2014/main" id="{917C46A3-A119-8AEA-FF4B-CE38DC22786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>
            <a:extLst>
              <a:ext uri="{FF2B5EF4-FFF2-40B4-BE49-F238E27FC236}">
                <a16:creationId xmlns:a16="http://schemas.microsoft.com/office/drawing/2014/main" id="{8A3F5BBA-D1D5-EFA1-E116-5083BD13A180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28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288174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73758-428A-9710-C71D-58B183F2B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>
            <a:extLst>
              <a:ext uri="{FF2B5EF4-FFF2-40B4-BE49-F238E27FC236}">
                <a16:creationId xmlns:a16="http://schemas.microsoft.com/office/drawing/2014/main" id="{25DA1B72-A645-5D0D-4446-A20EB0A0E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>
            <a:extLst>
              <a:ext uri="{FF2B5EF4-FFF2-40B4-BE49-F238E27FC236}">
                <a16:creationId xmlns:a16="http://schemas.microsoft.com/office/drawing/2014/main" id="{08C3C9BC-F2B4-E5C1-5E11-27DD8BF98C9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>
            <a:extLst>
              <a:ext uri="{FF2B5EF4-FFF2-40B4-BE49-F238E27FC236}">
                <a16:creationId xmlns:a16="http://schemas.microsoft.com/office/drawing/2014/main" id="{E8F6DF9A-B6EB-FC05-BDD1-7488FAE928E3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29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8217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8ABC0-EF55-396D-DC96-DD53698C1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>
            <a:extLst>
              <a:ext uri="{FF2B5EF4-FFF2-40B4-BE49-F238E27FC236}">
                <a16:creationId xmlns:a16="http://schemas.microsoft.com/office/drawing/2014/main" id="{EA2E0BF9-64B3-36F9-39DF-C9C8379C70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>
            <a:extLst>
              <a:ext uri="{FF2B5EF4-FFF2-40B4-BE49-F238E27FC236}">
                <a16:creationId xmlns:a16="http://schemas.microsoft.com/office/drawing/2014/main" id="{832F9676-A996-2EBA-C1F7-97F02212C4D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>
            <a:extLst>
              <a:ext uri="{FF2B5EF4-FFF2-40B4-BE49-F238E27FC236}">
                <a16:creationId xmlns:a16="http://schemas.microsoft.com/office/drawing/2014/main" id="{8622FA72-85E9-0F7B-9A2B-24D32C1AB03C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30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084625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9E0DD-1CC9-BA76-3D1C-790AA7FA0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>
            <a:extLst>
              <a:ext uri="{FF2B5EF4-FFF2-40B4-BE49-F238E27FC236}">
                <a16:creationId xmlns:a16="http://schemas.microsoft.com/office/drawing/2014/main" id="{5DE4CC7F-4F91-A3EE-09AC-CDF3B5255D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>
            <a:extLst>
              <a:ext uri="{FF2B5EF4-FFF2-40B4-BE49-F238E27FC236}">
                <a16:creationId xmlns:a16="http://schemas.microsoft.com/office/drawing/2014/main" id="{FD28088A-F70E-63BE-0B8E-0A17CCD6148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>
            <a:extLst>
              <a:ext uri="{FF2B5EF4-FFF2-40B4-BE49-F238E27FC236}">
                <a16:creationId xmlns:a16="http://schemas.microsoft.com/office/drawing/2014/main" id="{A7002EF9-651A-AE77-22E4-23CD137D19F4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31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619684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875F5-0A1B-5772-76D2-81BD57B0E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>
            <a:extLst>
              <a:ext uri="{FF2B5EF4-FFF2-40B4-BE49-F238E27FC236}">
                <a16:creationId xmlns:a16="http://schemas.microsoft.com/office/drawing/2014/main" id="{E9300757-EFB8-DF0C-7053-0D8DADD81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>
            <a:extLst>
              <a:ext uri="{FF2B5EF4-FFF2-40B4-BE49-F238E27FC236}">
                <a16:creationId xmlns:a16="http://schemas.microsoft.com/office/drawing/2014/main" id="{9014C5F0-3DA2-AAEE-507B-929E4A929C7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>
            <a:extLst>
              <a:ext uri="{FF2B5EF4-FFF2-40B4-BE49-F238E27FC236}">
                <a16:creationId xmlns:a16="http://schemas.microsoft.com/office/drawing/2014/main" id="{E3585714-471A-FB93-714F-D6CD04C48BDB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32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9996935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3F3F1-FB22-F691-2C29-727ABEE1E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>
            <a:extLst>
              <a:ext uri="{FF2B5EF4-FFF2-40B4-BE49-F238E27FC236}">
                <a16:creationId xmlns:a16="http://schemas.microsoft.com/office/drawing/2014/main" id="{22C7120C-6856-2389-19BC-585BC65CCF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>
            <a:extLst>
              <a:ext uri="{FF2B5EF4-FFF2-40B4-BE49-F238E27FC236}">
                <a16:creationId xmlns:a16="http://schemas.microsoft.com/office/drawing/2014/main" id="{BB8862CE-C889-C81F-FAE4-F781D4DCAB5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>
            <a:extLst>
              <a:ext uri="{FF2B5EF4-FFF2-40B4-BE49-F238E27FC236}">
                <a16:creationId xmlns:a16="http://schemas.microsoft.com/office/drawing/2014/main" id="{EEF588F2-EAD9-8896-445A-9D00E09E7115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33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012275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74641-120C-5104-18B8-E4E42F3CC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>
            <a:extLst>
              <a:ext uri="{FF2B5EF4-FFF2-40B4-BE49-F238E27FC236}">
                <a16:creationId xmlns:a16="http://schemas.microsoft.com/office/drawing/2014/main" id="{9BED23B4-6DC4-41BA-6EC2-6CBADBC27B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>
            <a:extLst>
              <a:ext uri="{FF2B5EF4-FFF2-40B4-BE49-F238E27FC236}">
                <a16:creationId xmlns:a16="http://schemas.microsoft.com/office/drawing/2014/main" id="{2060C5E0-6C31-06CA-AAAC-9251EFA6904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>
            <a:extLst>
              <a:ext uri="{FF2B5EF4-FFF2-40B4-BE49-F238E27FC236}">
                <a16:creationId xmlns:a16="http://schemas.microsoft.com/office/drawing/2014/main" id="{8535347E-EE5E-CBDF-1FE0-827E5B8B5BEB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34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0485664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35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2996730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36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5660158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37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719453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38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7954486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6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B17A30-5F71-4286-BC19-7791B9837E8B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39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1775248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9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4737417-C457-4A32-8D5B-E9FE889373E1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40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HAW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strike="noStrike" spc="-1">
                <a:solidFill>
                  <a:schemeClr val="dk1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C16834B-BE4D-4517-B01C-BCB72C6E9B23}" type="slidenum">
              <a:rPr lang="de-DE" sz="1200" b="0" strike="noStrike" spc="-1">
                <a:solidFill>
                  <a:schemeClr val="dk1"/>
                </a:solidFill>
                <a:latin typeface="Times New Roman"/>
                <a:ea typeface="+mn-ea"/>
              </a:rPr>
              <a:t>41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wmf"/><Relationship Id="rId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w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12"/>
          <p:cNvPicPr/>
          <p:nvPr/>
        </p:nvPicPr>
        <p:blipFill>
          <a:blip r:embed="rId4"/>
          <a:stretch/>
        </p:blipFill>
        <p:spPr>
          <a:xfrm>
            <a:off x="244440" y="225720"/>
            <a:ext cx="1974240" cy="421200"/>
          </a:xfrm>
          <a:prstGeom prst="rect">
            <a:avLst/>
          </a:prstGeom>
          <a:ln w="0">
            <a:noFill/>
          </a:ln>
        </p:spPr>
      </p:pic>
      <p:sp>
        <p:nvSpPr>
          <p:cNvPr id="6" name="Textfeld 14" hidden="1"/>
          <p:cNvSpPr/>
          <p:nvPr/>
        </p:nvSpPr>
        <p:spPr>
          <a:xfrm>
            <a:off x="263520" y="6477120"/>
            <a:ext cx="11662200" cy="13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de-DE" sz="600" b="0" strike="noStrike" spc="-1">
                <a:solidFill>
                  <a:srgbClr val="000000"/>
                </a:solidFill>
                <a:latin typeface="Arial"/>
                <a:ea typeface="DejaVu Sans"/>
              </a:rPr>
              <a:t>AG Ressourceneffiziente Mikroelektronik und Cognitive Edge Computing  I  Hochschule Bielefeld  I  Seite </a:t>
            </a:r>
            <a:fld id="{BB13ABF6-DEA7-4488-A769-6C184193DEF0}" type="slidenum">
              <a:rPr lang="de-DE" sz="600" b="0" strike="noStrike" spc="-1">
                <a:solidFill>
                  <a:srgbClr val="000000"/>
                </a:solidFill>
                <a:latin typeface="Arial"/>
                <a:ea typeface="DejaVu Sans"/>
              </a:rPr>
              <a:t>‹Nr.›</a:t>
            </a:fld>
            <a:endParaRPr lang="en-US" sz="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Grafik 12"/>
          <p:cNvPicPr/>
          <p:nvPr/>
        </p:nvPicPr>
        <p:blipFill>
          <a:blip r:embed="rId5"/>
          <a:stretch/>
        </p:blipFill>
        <p:spPr>
          <a:xfrm>
            <a:off x="10918440" y="204840"/>
            <a:ext cx="1152360" cy="8251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12"/>
          <p:cNvPicPr/>
          <p:nvPr/>
        </p:nvPicPr>
        <p:blipFill>
          <a:blip r:embed="rId3"/>
          <a:stretch/>
        </p:blipFill>
        <p:spPr>
          <a:xfrm>
            <a:off x="244440" y="225720"/>
            <a:ext cx="1974240" cy="421200"/>
          </a:xfrm>
          <a:prstGeom prst="rect">
            <a:avLst/>
          </a:prstGeom>
          <a:ln w="0">
            <a:noFill/>
          </a:ln>
        </p:spPr>
      </p:pic>
      <p:sp>
        <p:nvSpPr>
          <p:cNvPr id="8" name="Textfeld 14" hidden="1"/>
          <p:cNvSpPr/>
          <p:nvPr/>
        </p:nvSpPr>
        <p:spPr>
          <a:xfrm>
            <a:off x="263520" y="6477120"/>
            <a:ext cx="11662200" cy="13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de-DE" sz="600" b="0" strike="noStrike" spc="-1">
                <a:solidFill>
                  <a:srgbClr val="000000"/>
                </a:solidFill>
                <a:latin typeface="Arial"/>
                <a:ea typeface="DejaVu Sans"/>
              </a:rPr>
              <a:t>AG Ressourceneffiziente Mikroelektronik und Cognitive Edge Computing  I  Hochschule Bielefeld  I  Seite </a:t>
            </a:r>
            <a:fld id="{17D37F41-E5B3-468B-83C6-F68F37C334FE}" type="slidenum">
              <a:rPr lang="de-DE" sz="600" b="0" strike="noStrike" spc="-1">
                <a:solidFill>
                  <a:srgbClr val="000000"/>
                </a:solidFill>
                <a:latin typeface="Arial"/>
                <a:ea typeface="DejaVu Sans"/>
              </a:rPr>
              <a:t>‹Nr.›</a:t>
            </a:fld>
            <a:endParaRPr lang="en-US" sz="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" name="Grafik 12"/>
          <p:cNvPicPr/>
          <p:nvPr/>
        </p:nvPicPr>
        <p:blipFill>
          <a:blip r:embed="rId4"/>
          <a:stretch/>
        </p:blipFill>
        <p:spPr>
          <a:xfrm>
            <a:off x="10918440" y="204840"/>
            <a:ext cx="1152360" cy="825120"/>
          </a:xfrm>
          <a:prstGeom prst="rect">
            <a:avLst/>
          </a:prstGeom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2"/>
          <p:cNvPicPr/>
          <p:nvPr/>
        </p:nvPicPr>
        <p:blipFill>
          <a:blip r:embed="rId3"/>
          <a:stretch/>
        </p:blipFill>
        <p:spPr>
          <a:xfrm>
            <a:off x="244440" y="225720"/>
            <a:ext cx="1974240" cy="421200"/>
          </a:xfrm>
          <a:prstGeom prst="rect">
            <a:avLst/>
          </a:prstGeom>
          <a:ln w="0">
            <a:noFill/>
          </a:ln>
        </p:spPr>
      </p:pic>
      <p:sp>
        <p:nvSpPr>
          <p:cNvPr id="15" name="Textfeld 14" hidden="1"/>
          <p:cNvSpPr/>
          <p:nvPr/>
        </p:nvSpPr>
        <p:spPr>
          <a:xfrm>
            <a:off x="263520" y="6477120"/>
            <a:ext cx="11662200" cy="13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de-DE" sz="600" b="0" strike="noStrike" spc="-1">
                <a:solidFill>
                  <a:srgbClr val="000000"/>
                </a:solidFill>
                <a:latin typeface="Arial"/>
                <a:ea typeface="DejaVu Sans"/>
              </a:rPr>
              <a:t>AG Ressourceneffiziente Mikroelektronik und Cognitive Edge Computing  I  Hochschule Bielefeld  I  Seite </a:t>
            </a:r>
            <a:fld id="{BD24363E-5B8E-4536-B100-F724D0C38560}" type="slidenum">
              <a:rPr lang="de-DE" sz="600" b="0" strike="noStrike" spc="-1">
                <a:solidFill>
                  <a:srgbClr val="000000"/>
                </a:solidFill>
                <a:latin typeface="Arial"/>
                <a:ea typeface="DejaVu Sans"/>
              </a:rPr>
              <a:t>‹Nr.›</a:t>
            </a:fld>
            <a:endParaRPr lang="en-US" sz="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" name="Grafik 12"/>
          <p:cNvPicPr/>
          <p:nvPr/>
        </p:nvPicPr>
        <p:blipFill>
          <a:blip r:embed="rId4"/>
          <a:stretch/>
        </p:blipFill>
        <p:spPr>
          <a:xfrm>
            <a:off x="10918440" y="204840"/>
            <a:ext cx="1152360" cy="825120"/>
          </a:xfrm>
          <a:prstGeom prst="rect">
            <a:avLst/>
          </a:prstGeom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8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7.png"/><Relationship Id="rId5" Type="http://schemas.openxmlformats.org/officeDocument/2006/relationships/image" Target="../media/image5.wmf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ildplatzhalter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31" b="15831"/>
          <a:stretch/>
        </p:blipFill>
        <p:spPr>
          <a:xfrm>
            <a:off x="263520" y="1305000"/>
            <a:ext cx="10690560" cy="3165840"/>
          </a:xfrm>
          <a:prstGeom prst="rect">
            <a:avLst/>
          </a:prstGeom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31880" y="4765320"/>
            <a:ext cx="10376640" cy="90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400" b="1" spc="29" dirty="0">
                <a:solidFill>
                  <a:schemeClr val="dk1"/>
                </a:solidFill>
                <a:latin typeface="Times New Roman"/>
              </a:rPr>
              <a:t>ROBOTINO PROJECT</a:t>
            </a:r>
            <a:endParaRPr lang="en-US" sz="24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ubTitle"/>
          </p:nvPr>
        </p:nvSpPr>
        <p:spPr>
          <a:xfrm>
            <a:off x="731880" y="5737680"/>
            <a:ext cx="9753840" cy="32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28600" indent="-228600" defTabSz="914400">
              <a:lnSpc>
                <a:spcPct val="94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strike="noStrike" spc="9">
                <a:solidFill>
                  <a:srgbClr val="000000"/>
                </a:solidFill>
                <a:latin typeface="Times New Roman"/>
                <a:ea typeface="DejaVu Sans"/>
              </a:rPr>
              <a:t>Suraj Karki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feld 7"/>
          <p:cNvSpPr/>
          <p:nvPr/>
        </p:nvSpPr>
        <p:spPr>
          <a:xfrm>
            <a:off x="731880" y="5991840"/>
            <a:ext cx="2253600" cy="33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 defTabSz="914400">
              <a:lnSpc>
                <a:spcPct val="94000"/>
              </a:lnSpc>
            </a:pPr>
            <a:r>
              <a:rPr lang="de-DE" sz="20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19.09.2025</a:t>
            </a:r>
            <a:endParaRPr lang="en-US" sz="20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Textfeld 2"/>
          <p:cNvSpPr/>
          <p:nvPr/>
        </p:nvSpPr>
        <p:spPr>
          <a:xfrm>
            <a:off x="659880" y="6315480"/>
            <a:ext cx="609336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l" fontAlgn="base"/>
            <a:r>
              <a:rPr lang="en-US" sz="1400" i="0" dirty="0">
                <a:solidFill>
                  <a:srgbClr val="000000"/>
                </a:solidFill>
                <a:effectLst/>
                <a:latin typeface="HSBI Lausanne 300"/>
              </a:rPr>
              <a:t>Prof. Dr.-Ing. Christian </a:t>
            </a:r>
            <a:r>
              <a:rPr lang="en-US" sz="1400" i="0" dirty="0" err="1">
                <a:solidFill>
                  <a:srgbClr val="000000"/>
                </a:solidFill>
                <a:effectLst/>
                <a:latin typeface="HSBI Lausanne 300"/>
              </a:rPr>
              <a:t>Schwede</a:t>
            </a:r>
            <a:endParaRPr lang="en-US" sz="1400" i="0" dirty="0">
              <a:solidFill>
                <a:srgbClr val="000000"/>
              </a:solidFill>
              <a:effectLst/>
              <a:latin typeface="HSBI Lausanne 300"/>
            </a:endParaRPr>
          </a:p>
        </p:txBody>
      </p:sp>
      <p:pic>
        <p:nvPicPr>
          <p:cNvPr id="3" name="Grafik 2" descr="Ein Bild, das Symbol, Grafiken, Clipart, Logo enthält.&#10;&#10;KI-generierte Inhalte können fehlerhaft sein.">
            <a:extLst>
              <a:ext uri="{FF2B5EF4-FFF2-40B4-BE49-F238E27FC236}">
                <a16:creationId xmlns:a16="http://schemas.microsoft.com/office/drawing/2014/main" id="{CB8D0A8E-B741-B3D6-8203-F004B9E3F6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2850" y="1294114"/>
            <a:ext cx="763286" cy="7632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 xmlns:p15="http://schemas.microsoft.com/office/powerpoint/2012/main">
      <p:transition spd="slow" advTm="20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/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/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b="0" strike="noStrike" cap="all" spc="15" dirty="0" err="1">
                <a:solidFill>
                  <a:schemeClr val="dk1"/>
                </a:solidFill>
                <a:latin typeface="HSBI Lausanne 300"/>
                <a:ea typeface="DejaVu Sans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/>
          <p:cNvSpPr/>
          <p:nvPr/>
        </p:nvSpPr>
        <p:spPr>
          <a:xfrm>
            <a:off x="983160" y="1844640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 defTabSz="9144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dirty="0" err="1">
                <a:latin typeface="HSBI Lausanne 300"/>
              </a:rPr>
              <a:t>Robotino</a:t>
            </a:r>
            <a:r>
              <a:rPr lang="en-US" dirty="0">
                <a:latin typeface="HSBI Lausanne 300"/>
              </a:rPr>
              <a:t> AGV → mobile robot for education &amp; research</a:t>
            </a:r>
            <a:endParaRPr lang="en-US" strike="noStrike" spc="-1" dirty="0">
              <a:solidFill>
                <a:srgbClr val="172B4D"/>
              </a:solidFill>
              <a:latin typeface="HSBI Lausanne 300"/>
            </a:endParaRPr>
          </a:p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dirty="0">
                <a:latin typeface="HSBI Lausanne 300"/>
              </a:rPr>
              <a:t>Equipped with sensors (</a:t>
            </a:r>
            <a:r>
              <a:rPr lang="en-US" b="1" dirty="0">
                <a:latin typeface="HSBI Lausanne 300"/>
              </a:rPr>
              <a:t>SICK LMS100, optical encoders,</a:t>
            </a:r>
          </a:p>
          <a:p>
            <a:pPr>
              <a:lnSpc>
                <a:spcPct val="150000"/>
              </a:lnSpc>
              <a:buSzPct val="110911"/>
            </a:pPr>
            <a:r>
              <a:rPr lang="en-US" b="1" dirty="0">
                <a:latin typeface="HSBI Lausanne 300"/>
              </a:rPr>
              <a:t>    infrared sensor and camera</a:t>
            </a:r>
            <a:r>
              <a:rPr lang="en-US" dirty="0">
                <a:latin typeface="HSBI Lausanne 300"/>
              </a:rPr>
              <a:t>) for autonomous navigation.</a:t>
            </a:r>
          </a:p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dirty="0">
                <a:latin typeface="HSBI Lausanne 300"/>
              </a:rPr>
              <a:t>It has omnidirectional movement for flexible navigation.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 defTabSz="914400">
              <a:lnSpc>
                <a:spcPct val="150000"/>
              </a:lnSpc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9222E8DA-FD92-D07B-68CE-7619EB2F65BE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07EE561B-38E0-01DD-C926-13A1233214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278" y="1252800"/>
            <a:ext cx="2648320" cy="49441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 xmlns:p15="http://schemas.microsoft.com/office/powerpoint/2012/main">
      <p:transition spd="slow" advTm="20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/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3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/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cap="all" spc="15" dirty="0">
                <a:solidFill>
                  <a:schemeClr val="dk1"/>
                </a:solidFill>
                <a:latin typeface="HSBI Lausanne 300"/>
              </a:rPr>
              <a:t>Problem </a:t>
            </a:r>
            <a:r>
              <a:rPr lang="de-DE" sz="3000" cap="all" spc="15" dirty="0" err="1">
                <a:solidFill>
                  <a:schemeClr val="dk1"/>
                </a:solidFill>
                <a:latin typeface="HSBI Lausanne 300"/>
              </a:rPr>
              <a:t>statement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/>
          <p:cNvSpPr/>
          <p:nvPr/>
        </p:nvSpPr>
        <p:spPr>
          <a:xfrm>
            <a:off x="983160" y="1844640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dirty="0">
                <a:latin typeface="HSBI Lausanne 300"/>
              </a:rPr>
              <a:t>Current path networks for </a:t>
            </a:r>
            <a:r>
              <a:rPr lang="en-US" dirty="0" err="1">
                <a:latin typeface="HSBI Lausanne 300"/>
              </a:rPr>
              <a:t>Robotino</a:t>
            </a:r>
            <a:r>
              <a:rPr lang="en-US" dirty="0">
                <a:latin typeface="HSBI Lausanne 300"/>
              </a:rPr>
              <a:t> are </a:t>
            </a:r>
            <a:r>
              <a:rPr lang="en-US" b="1" dirty="0">
                <a:latin typeface="HSBI Lausanne 300"/>
              </a:rPr>
              <a:t>manual and slow</a:t>
            </a:r>
            <a:endParaRPr lang="en-US" b="1" spc="-1" dirty="0">
              <a:solidFill>
                <a:srgbClr val="000000"/>
              </a:solidFill>
              <a:latin typeface="HSBI Lausanne 300"/>
            </a:endParaRPr>
          </a:p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dirty="0">
                <a:latin typeface="HSBI Lausanne 300"/>
              </a:rPr>
              <a:t>Relies heavily on </a:t>
            </a:r>
            <a:r>
              <a:rPr lang="en-US" b="1" dirty="0">
                <a:latin typeface="HSBI Lausanne 300"/>
              </a:rPr>
              <a:t>expert knowledge</a:t>
            </a:r>
          </a:p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dirty="0">
                <a:latin typeface="HSBI Lausanne 300"/>
              </a:rPr>
              <a:t>Adapting paths to </a:t>
            </a:r>
            <a:r>
              <a:rPr lang="en-US" b="1" dirty="0">
                <a:latin typeface="HSBI Lausanne 300"/>
              </a:rPr>
              <a:t>new or changing factory layouts </a:t>
            </a:r>
            <a:r>
              <a:rPr lang="en-US" dirty="0">
                <a:latin typeface="HSBI Lausanne 300"/>
              </a:rPr>
              <a:t>is challenging and time-consuming.</a:t>
            </a:r>
          </a:p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dirty="0">
                <a:latin typeface="HSBI Lausanne 300"/>
              </a:rPr>
              <a:t>Sensor noise and localization errors reduce </a:t>
            </a:r>
            <a:r>
              <a:rPr lang="en-US" b="1" dirty="0">
                <a:latin typeface="HSBI Lausanne 300"/>
              </a:rPr>
              <a:t>accuracy and robustness</a:t>
            </a:r>
            <a:endParaRPr lang="en-US" dirty="0">
              <a:latin typeface="HSBI Lausanne 300"/>
            </a:endParaRPr>
          </a:p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b="1" dirty="0">
              <a:latin typeface="HSBI Lausanne 300"/>
            </a:endParaRPr>
          </a:p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9222E8DA-FD92-D07B-68CE-7619EB2F65BE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D419219C-6752-02FD-D40A-963FEAFD25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4130" y="3581858"/>
            <a:ext cx="4023929" cy="277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91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/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4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/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b="0" strike="noStrike" cap="all" spc="15" dirty="0" err="1">
                <a:solidFill>
                  <a:schemeClr val="dk1"/>
                </a:solidFill>
                <a:latin typeface="HSBI Lausanne 300"/>
              </a:rPr>
              <a:t>o</a:t>
            </a:r>
            <a:r>
              <a:rPr lang="de-DE" sz="3000" cap="all" spc="15" dirty="0" err="1">
                <a:solidFill>
                  <a:schemeClr val="dk1"/>
                </a:solidFill>
                <a:latin typeface="HSBI Lausanne 300"/>
              </a:rPr>
              <a:t>bjective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/>
          <p:cNvSpPr/>
          <p:nvPr/>
        </p:nvSpPr>
        <p:spPr>
          <a:xfrm>
            <a:off x="983160" y="1844640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To generate a map of the environment including  stations</a:t>
            </a:r>
          </a:p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trike="noStrike" spc="-1" dirty="0">
                <a:solidFill>
                  <a:srgbClr val="000000"/>
                </a:solidFill>
                <a:latin typeface="HSBI Lausanne 300"/>
              </a:rPr>
              <a:t>To generate an optimized path network based on recordings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9222E8DA-FD92-D07B-68CE-7619EB2F65BE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fik 5">
            <a:extLst>
              <a:ext uri="{FF2B5EF4-FFF2-40B4-BE49-F238E27FC236}">
                <a16:creationId xmlns:a16="http://schemas.microsoft.com/office/drawing/2014/main" id="{66BF20B5-882D-0740-E8C6-80321E9A3C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5431" y="3200399"/>
            <a:ext cx="3857800" cy="273231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1BAFEA3C-08F3-B0DF-DA0A-731A296485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8770" y="3200399"/>
            <a:ext cx="3857800" cy="2732314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961CA581-4D0C-128C-267A-F47BEEEB28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8770" y="3200399"/>
            <a:ext cx="4023929" cy="277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228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/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/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cap="all" spc="15" dirty="0">
                <a:solidFill>
                  <a:schemeClr val="dk1"/>
                </a:solidFill>
                <a:latin typeface="HSBI Lausanne 300"/>
              </a:rPr>
              <a:t>Methods &amp; </a:t>
            </a:r>
            <a:r>
              <a:rPr lang="de-DE" sz="3000" cap="all" spc="15" dirty="0" err="1">
                <a:solidFill>
                  <a:schemeClr val="dk1"/>
                </a:solidFill>
                <a:latin typeface="HSBI Lausanne 300"/>
              </a:rPr>
              <a:t>implementations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/>
          <p:cNvSpPr/>
          <p:nvPr/>
        </p:nvSpPr>
        <p:spPr>
          <a:xfrm>
            <a:off x="983160" y="1768438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SLAM (Simultaneous Localization and Mapping)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dirty="0">
                <a:latin typeface="HSBI Lausanne 300"/>
              </a:rPr>
              <a:t>It is the process for a mobile robot to build a map of the environment and use this map to compute its location simultaneously. </a:t>
            </a:r>
            <a:r>
              <a:rPr lang="en-US" baseline="30000" dirty="0">
                <a:latin typeface="HSBI Lausanne 300"/>
              </a:rPr>
              <a:t>1</a:t>
            </a: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1143000" lvl="2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9222E8DA-FD92-D07B-68CE-7619EB2F65BE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 descr="Ein Bild, das Screenshot, Kunst, Licht, draußen enthält.&#10;&#10;KI-generierte Inhalte können fehlerhaft sein.">
            <a:extLst>
              <a:ext uri="{FF2B5EF4-FFF2-40B4-BE49-F238E27FC236}">
                <a16:creationId xmlns:a16="http://schemas.microsoft.com/office/drawing/2014/main" id="{B615D1E1-9DDF-B5DF-36C9-66ECCCEAD0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9932" y="3059179"/>
            <a:ext cx="4519559" cy="2546018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13D1264E-E9A5-6ED7-A70C-FE69DD5C8357}"/>
              </a:ext>
            </a:extLst>
          </p:cNvPr>
          <p:cNvSpPr txBox="1"/>
          <p:nvPr/>
        </p:nvSpPr>
        <p:spPr>
          <a:xfrm>
            <a:off x="664026" y="5759796"/>
            <a:ext cx="9252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SBI Lausanne 300"/>
              </a:rPr>
              <a:t>1. Bailey, Tim, and Hugh </a:t>
            </a:r>
            <a:r>
              <a:rPr lang="en-US" sz="1200" dirty="0" err="1">
                <a:latin typeface="HSBI Lausanne 300"/>
              </a:rPr>
              <a:t>Durrant</a:t>
            </a:r>
            <a:r>
              <a:rPr lang="en-US" sz="1200" dirty="0">
                <a:latin typeface="HSBI Lausanne 300"/>
              </a:rPr>
              <a:t>-Whyte. "Simultaneous localization and mapping (SLAM): Part II." IEEE robotics &amp; automation magazine 13.3 (2006): 108-117. </a:t>
            </a:r>
            <a:endParaRPr lang="de-DE" sz="1200" dirty="0">
              <a:latin typeface="HSBI Lausanne 300"/>
            </a:endParaRP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BEF7A2AA-F0EA-D11E-F56A-96A6E52B5762}"/>
              </a:ext>
            </a:extLst>
          </p:cNvPr>
          <p:cNvCxnSpPr>
            <a:cxnSpLocks/>
          </p:cNvCxnSpPr>
          <p:nvPr/>
        </p:nvCxnSpPr>
        <p:spPr>
          <a:xfrm>
            <a:off x="761999" y="5725890"/>
            <a:ext cx="360317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8111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/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/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cap="all" spc="15" dirty="0">
                <a:solidFill>
                  <a:schemeClr val="dk1"/>
                </a:solidFill>
                <a:latin typeface="HSBI Lausanne 300"/>
              </a:rPr>
              <a:t>Methods &amp; </a:t>
            </a:r>
            <a:r>
              <a:rPr lang="de-DE" sz="3000" cap="all" spc="15" dirty="0" err="1">
                <a:solidFill>
                  <a:schemeClr val="dk1"/>
                </a:solidFill>
                <a:latin typeface="HSBI Lausanne 300"/>
              </a:rPr>
              <a:t>implementations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/>
          <p:cNvSpPr/>
          <p:nvPr/>
        </p:nvSpPr>
        <p:spPr>
          <a:xfrm>
            <a:off x="983160" y="1779323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Types of SLAM: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Filtering</a:t>
            </a:r>
          </a:p>
          <a:p>
            <a:pPr marL="1143000" lvl="2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State is estimated “on the go” with latest measurements</a:t>
            </a:r>
          </a:p>
          <a:p>
            <a:pPr marL="1143000" lvl="2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For example, Kalman Filter, EKF, Particle Filtering, etc.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Smoothing</a:t>
            </a:r>
          </a:p>
          <a:p>
            <a:pPr marL="1143000" lvl="2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Full trajectories are estimated using complete set of measurements</a:t>
            </a:r>
          </a:p>
          <a:p>
            <a:pPr marL="1143000" lvl="2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For example, Pose Graph Optimization</a:t>
            </a:r>
          </a:p>
          <a:p>
            <a:pPr marL="1143000" lvl="2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1143000" lvl="2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9222E8DA-FD92-D07B-68CE-7619EB2F65BE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9786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/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/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cap="all" spc="15" dirty="0">
                <a:solidFill>
                  <a:schemeClr val="dk1"/>
                </a:solidFill>
                <a:latin typeface="HSBI Lausanne 300"/>
              </a:rPr>
              <a:t>Methods &amp; </a:t>
            </a:r>
            <a:r>
              <a:rPr lang="de-DE" sz="3000" cap="all" spc="15" dirty="0" err="1">
                <a:solidFill>
                  <a:schemeClr val="dk1"/>
                </a:solidFill>
                <a:latin typeface="HSBI Lausanne 300"/>
              </a:rPr>
              <a:t>implementations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/>
          <p:cNvSpPr/>
          <p:nvPr/>
        </p:nvSpPr>
        <p:spPr>
          <a:xfrm>
            <a:off x="983160" y="1844640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trike="noStrike" spc="-1" dirty="0">
                <a:solidFill>
                  <a:srgbClr val="000000"/>
                </a:solidFill>
                <a:latin typeface="HSBI Lausanne 300"/>
              </a:rPr>
              <a:t>Workflow for M</a:t>
            </a:r>
            <a:r>
              <a:rPr lang="en-US" spc="-1" dirty="0">
                <a:solidFill>
                  <a:srgbClr val="000000"/>
                </a:solidFill>
                <a:latin typeface="HSBI Lausanne 300"/>
              </a:rPr>
              <a:t>ap Generation</a:t>
            </a: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 lvl="1">
              <a:lnSpc>
                <a:spcPct val="150000"/>
              </a:lnSpc>
              <a:buSzPct val="110911"/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9222E8DA-FD92-D07B-68CE-7619EB2F65BE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fik 7">
            <a:extLst>
              <a:ext uri="{FF2B5EF4-FFF2-40B4-BE49-F238E27FC236}">
                <a16:creationId xmlns:a16="http://schemas.microsoft.com/office/drawing/2014/main" id="{DB3810F7-5ECD-096B-D9FA-C7AD686C13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28862" y="2531608"/>
            <a:ext cx="7534275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666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/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/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cap="all" spc="15" dirty="0">
                <a:solidFill>
                  <a:schemeClr val="dk1"/>
                </a:solidFill>
                <a:latin typeface="HSBI Lausanne 300"/>
              </a:rPr>
              <a:t>Methods &amp; </a:t>
            </a:r>
            <a:r>
              <a:rPr lang="de-DE" sz="3000" cap="all" spc="15" dirty="0" err="1">
                <a:solidFill>
                  <a:schemeClr val="dk1"/>
                </a:solidFill>
                <a:latin typeface="HSBI Lausanne 300"/>
              </a:rPr>
              <a:t>implementations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/>
          <p:cNvSpPr/>
          <p:nvPr/>
        </p:nvSpPr>
        <p:spPr>
          <a:xfrm>
            <a:off x="983160" y="1768438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Pose Graph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i="0" dirty="0">
                <a:solidFill>
                  <a:srgbClr val="212121"/>
                </a:solidFill>
                <a:effectLst/>
                <a:latin typeface="HSBI Lausanne 300"/>
              </a:rPr>
              <a:t>A pose graph contains nodes connected by edges.</a:t>
            </a:r>
            <a:endParaRPr lang="en-US" dirty="0"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de-DE" dirty="0">
                <a:latin typeface="HSBI Lausanne 300"/>
              </a:rPr>
              <a:t>Nodes → </a:t>
            </a:r>
            <a:r>
              <a:rPr lang="de-DE" dirty="0" err="1">
                <a:latin typeface="HSBI Lausanne 300"/>
              </a:rPr>
              <a:t>robot</a:t>
            </a:r>
            <a:r>
              <a:rPr lang="de-DE" dirty="0">
                <a:latin typeface="HSBI Lausanne 300"/>
              </a:rPr>
              <a:t> </a:t>
            </a:r>
            <a:r>
              <a:rPr lang="de-DE" dirty="0" err="1">
                <a:latin typeface="HSBI Lausanne 300"/>
              </a:rPr>
              <a:t>poses</a:t>
            </a:r>
            <a:r>
              <a:rPr lang="de-DE" dirty="0">
                <a:latin typeface="HSBI Lausanne 300"/>
              </a:rPr>
              <a:t> (</a:t>
            </a:r>
            <a:r>
              <a:rPr lang="de-DE" dirty="0" err="1">
                <a:latin typeface="HSBI Lausanne 300"/>
              </a:rPr>
              <a:t>position</a:t>
            </a:r>
            <a:r>
              <a:rPr lang="de-DE" dirty="0">
                <a:latin typeface="HSBI Lausanne 300"/>
              </a:rPr>
              <a:t> + </a:t>
            </a:r>
            <a:r>
              <a:rPr lang="de-DE" dirty="0" err="1">
                <a:latin typeface="HSBI Lausanne 300"/>
              </a:rPr>
              <a:t>orientation</a:t>
            </a:r>
            <a:r>
              <a:rPr lang="de-DE" dirty="0">
                <a:latin typeface="HSBI Lausanne 300"/>
              </a:rPr>
              <a:t>) at different </a:t>
            </a:r>
            <a:r>
              <a:rPr lang="de-DE" dirty="0" err="1">
                <a:latin typeface="HSBI Lausanne 300"/>
              </a:rPr>
              <a:t>times</a:t>
            </a:r>
            <a:endParaRPr lang="en-US" dirty="0"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dirty="0">
                <a:latin typeface="HSBI Lausanne 300"/>
              </a:rPr>
              <a:t>Edges → constraints between poses (from odometry,</a:t>
            </a:r>
          </a:p>
          <a:p>
            <a:pPr lvl="1">
              <a:lnSpc>
                <a:spcPct val="150000"/>
              </a:lnSpc>
              <a:buSzPct val="110911"/>
            </a:pPr>
            <a:r>
              <a:rPr lang="en-US" dirty="0">
                <a:latin typeface="HSBI Lausanne 300"/>
              </a:rPr>
              <a:t>    sensor measurements, loop closures)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dirty="0">
                <a:latin typeface="HSBI Lausanne 300"/>
              </a:rPr>
              <a:t>These edge constraints also represent the uncertainty </a:t>
            </a:r>
          </a:p>
          <a:p>
            <a:pPr lvl="1">
              <a:lnSpc>
                <a:spcPct val="150000"/>
              </a:lnSpc>
              <a:buSzPct val="110911"/>
            </a:pPr>
            <a:r>
              <a:rPr lang="en-US" dirty="0">
                <a:latin typeface="HSBI Lausanne 300"/>
              </a:rPr>
              <a:t>     associated with that measurement.</a:t>
            </a: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9222E8DA-FD92-D07B-68CE-7619EB2F65BE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53762C14-B1FD-0AE7-50D4-155B79D990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8609" y="2144485"/>
            <a:ext cx="4158087" cy="224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028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/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/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cap="all" spc="15" dirty="0">
                <a:solidFill>
                  <a:schemeClr val="dk1"/>
                </a:solidFill>
                <a:latin typeface="HSBI Lausanne 300"/>
              </a:rPr>
              <a:t>Methods &amp; </a:t>
            </a:r>
            <a:r>
              <a:rPr lang="de-DE" sz="3000" cap="all" spc="15" dirty="0" err="1">
                <a:solidFill>
                  <a:schemeClr val="dk1"/>
                </a:solidFill>
                <a:latin typeface="HSBI Lausanne 300"/>
              </a:rPr>
              <a:t>implementations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/>
          <p:cNvSpPr/>
          <p:nvPr/>
        </p:nvSpPr>
        <p:spPr>
          <a:xfrm>
            <a:off x="983160" y="1768438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Loop Closure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dirty="0">
                <a:latin typeface="HSBI Lausanne 300"/>
              </a:rPr>
              <a:t>It tells the SLAM system that the robot has returned to a</a:t>
            </a:r>
          </a:p>
          <a:p>
            <a:pPr lvl="1">
              <a:lnSpc>
                <a:spcPct val="150000"/>
              </a:lnSpc>
              <a:buSzPct val="110911"/>
            </a:pPr>
            <a:r>
              <a:rPr lang="en-US" dirty="0">
                <a:latin typeface="HSBI Lausanne 300"/>
              </a:rPr>
              <a:t>     previously visited area.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dirty="0">
                <a:latin typeface="HSBI Lausanne 300"/>
              </a:rPr>
              <a:t>It helps to correct errors(drift in trajectory) in the map.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dirty="0">
                <a:latin typeface="HSBI Lausanne 300"/>
              </a:rPr>
              <a:t>Connecting two nodes that are not next to each other</a:t>
            </a:r>
          </a:p>
          <a:p>
            <a:pPr lvl="1">
              <a:lnSpc>
                <a:spcPct val="150000"/>
              </a:lnSpc>
              <a:buSzPct val="110911"/>
            </a:pPr>
            <a:r>
              <a:rPr lang="en-US" dirty="0">
                <a:latin typeface="HSBI Lausanne 300"/>
              </a:rPr>
              <a:t>     (non-sequential), creates a loop closure.</a:t>
            </a: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9222E8DA-FD92-D07B-68CE-7619EB2F65BE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>
            <a:extLst>
              <a:ext uri="{FF2B5EF4-FFF2-40B4-BE49-F238E27FC236}">
                <a16:creationId xmlns:a16="http://schemas.microsoft.com/office/drawing/2014/main" id="{B720F9C9-A6CC-FCF8-B463-E7351C8A79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0525" y="1923299"/>
            <a:ext cx="4910475" cy="271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675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/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/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cap="all" spc="15" dirty="0">
                <a:solidFill>
                  <a:schemeClr val="dk1"/>
                </a:solidFill>
                <a:latin typeface="HSBI Lausanne 300"/>
              </a:rPr>
              <a:t>Methods &amp; </a:t>
            </a:r>
            <a:r>
              <a:rPr lang="de-DE" sz="3000" cap="all" spc="15" dirty="0" err="1">
                <a:solidFill>
                  <a:schemeClr val="dk1"/>
                </a:solidFill>
                <a:latin typeface="HSBI Lausanne 300"/>
              </a:rPr>
              <a:t>implementations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/>
          <p:cNvSpPr/>
          <p:nvPr/>
        </p:nvSpPr>
        <p:spPr>
          <a:xfrm>
            <a:off x="983160" y="1768438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Pose Graph Optimization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trike="noStrike" spc="-1" dirty="0">
                <a:solidFill>
                  <a:srgbClr val="000000"/>
                </a:solidFill>
                <a:latin typeface="HSBI Lausanne 300"/>
              </a:rPr>
              <a:t>Goal: </a:t>
            </a:r>
            <a:r>
              <a:rPr lang="en-US" dirty="0">
                <a:latin typeface="HSBI Lausanne 300"/>
              </a:rPr>
              <a:t>Move all the nodes so that the distances and directions between them match the measurements as closely as possible.</a:t>
            </a: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lvl="1">
              <a:lnSpc>
                <a:spcPct val="150000"/>
              </a:lnSpc>
              <a:buSzPct val="110911"/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Step 1: </a:t>
            </a:r>
            <a:r>
              <a:rPr lang="de-DE" dirty="0" err="1">
                <a:latin typeface="HSBI Lausanne 300"/>
              </a:rPr>
              <a:t>Represent</a:t>
            </a:r>
            <a:r>
              <a:rPr lang="de-DE" dirty="0">
                <a:latin typeface="HSBI Lausanne 300"/>
              </a:rPr>
              <a:t> </a:t>
            </a:r>
            <a:r>
              <a:rPr lang="de-DE" dirty="0" err="1">
                <a:latin typeface="HSBI Lausanne 300"/>
              </a:rPr>
              <a:t>Constraints</a:t>
            </a:r>
            <a:r>
              <a:rPr lang="de-DE" dirty="0">
                <a:latin typeface="HSBI Lausanne 300"/>
              </a:rPr>
              <a:t> </a:t>
            </a:r>
            <a:r>
              <a:rPr lang="de-DE" dirty="0" err="1">
                <a:latin typeface="HSBI Lausanne 300"/>
              </a:rPr>
              <a:t>Mathematically</a:t>
            </a:r>
            <a:endParaRPr lang="de-DE" dirty="0">
              <a:latin typeface="HSBI Lausanne 30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9222E8DA-FD92-D07B-68CE-7619EB2F65BE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>
            <a:extLst>
              <a:ext uri="{FF2B5EF4-FFF2-40B4-BE49-F238E27FC236}">
                <a16:creationId xmlns:a16="http://schemas.microsoft.com/office/drawing/2014/main" id="{F43A1B81-7CD0-B4B2-07F1-C124C0373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8945" y="3467633"/>
            <a:ext cx="6093359" cy="2601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572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/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/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cap="all" spc="15" dirty="0">
                <a:solidFill>
                  <a:schemeClr val="dk1"/>
                </a:solidFill>
                <a:latin typeface="HSBI Lausanne 300"/>
              </a:rPr>
              <a:t>Methods &amp; </a:t>
            </a:r>
            <a:r>
              <a:rPr lang="de-DE" sz="3000" cap="all" spc="15" dirty="0" err="1">
                <a:solidFill>
                  <a:schemeClr val="dk1"/>
                </a:solidFill>
                <a:latin typeface="HSBI Lausanne 300"/>
              </a:rPr>
              <a:t>implementations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/>
          <p:cNvSpPr/>
          <p:nvPr/>
        </p:nvSpPr>
        <p:spPr>
          <a:xfrm>
            <a:off x="983160" y="1768438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Pose Graph Optimization</a:t>
            </a:r>
          </a:p>
          <a:p>
            <a:pPr lvl="1">
              <a:lnSpc>
                <a:spcPct val="150000"/>
              </a:lnSpc>
              <a:buSzPct val="110911"/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Step 2: </a:t>
            </a:r>
            <a:r>
              <a:rPr lang="de-DE" dirty="0" err="1">
                <a:latin typeface="HSBI Lausanne 300"/>
              </a:rPr>
              <a:t>Formulate</a:t>
            </a:r>
            <a:r>
              <a:rPr lang="de-DE" dirty="0">
                <a:latin typeface="HSBI Lausanne 300"/>
              </a:rPr>
              <a:t> </a:t>
            </a:r>
            <a:r>
              <a:rPr lang="de-DE" dirty="0" err="1">
                <a:latin typeface="HSBI Lausanne 300"/>
              </a:rPr>
              <a:t>Optimization</a:t>
            </a:r>
            <a:r>
              <a:rPr lang="de-DE" dirty="0">
                <a:latin typeface="HSBI Lausanne 300"/>
              </a:rPr>
              <a:t> Problem</a:t>
            </a:r>
          </a:p>
          <a:p>
            <a:pPr marL="742950" lvl="1" indent="-285750">
              <a:lnSpc>
                <a:spcPct val="150000"/>
              </a:lnSpc>
              <a:buSzPct val="110911"/>
              <a:buFontTx/>
              <a:buChar char="-"/>
            </a:pPr>
            <a:r>
              <a:rPr lang="en-US" dirty="0">
                <a:latin typeface="HSBI Lausanne 300"/>
              </a:rPr>
              <a:t>Objective: Minimize total error between predicted and measured relative poses:</a:t>
            </a:r>
          </a:p>
          <a:p>
            <a:pPr lvl="1">
              <a:lnSpc>
                <a:spcPct val="150000"/>
              </a:lnSpc>
              <a:buSzPct val="110911"/>
            </a:pPr>
            <a:endParaRPr lang="en-US" dirty="0">
              <a:latin typeface="HSBI Lausanne 300"/>
            </a:endParaRPr>
          </a:p>
          <a:p>
            <a:pPr lvl="1">
              <a:lnSpc>
                <a:spcPct val="150000"/>
              </a:lnSpc>
              <a:buSzPct val="110911"/>
            </a:pPr>
            <a:endParaRPr lang="en-US" dirty="0">
              <a:latin typeface="HSBI Lausanne 300"/>
            </a:endParaRPr>
          </a:p>
          <a:p>
            <a:pPr marL="742950" lvl="1" indent="-285750">
              <a:lnSpc>
                <a:spcPct val="150000"/>
              </a:lnSpc>
              <a:buSzPct val="110911"/>
              <a:buFontTx/>
              <a:buChar char="-"/>
            </a:pPr>
            <a:r>
              <a:rPr lang="en-US" dirty="0">
                <a:latin typeface="HSBI Lausanne 300"/>
              </a:rPr>
              <a:t>Adjust node positions so all edges “fit” as well as possible</a:t>
            </a:r>
            <a:endParaRPr lang="de-DE" dirty="0">
              <a:latin typeface="HSBI Lausanne 300"/>
            </a:endParaRPr>
          </a:p>
          <a:p>
            <a:pPr lvl="1">
              <a:lnSpc>
                <a:spcPct val="150000"/>
              </a:lnSpc>
              <a:buSzPct val="110911"/>
            </a:pPr>
            <a:endParaRPr lang="en-US" dirty="0">
              <a:latin typeface="HSBI Lausanne 30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9222E8DA-FD92-D07B-68CE-7619EB2F65BE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163DED63-9D4B-E957-A3AE-02B302D9D2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8343" y="3038069"/>
            <a:ext cx="3712028" cy="74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916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/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/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cap="all" spc="15" dirty="0">
                <a:solidFill>
                  <a:schemeClr val="dk1"/>
                </a:solidFill>
                <a:latin typeface="HSBI Lausanne 300"/>
              </a:rPr>
              <a:t>Methods &amp; </a:t>
            </a:r>
            <a:r>
              <a:rPr lang="de-DE" sz="3000" cap="all" spc="15" dirty="0" err="1">
                <a:solidFill>
                  <a:schemeClr val="dk1"/>
                </a:solidFill>
                <a:latin typeface="HSBI Lausanne 300"/>
              </a:rPr>
              <a:t>implementations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/>
          <p:cNvSpPr/>
          <p:nvPr/>
        </p:nvSpPr>
        <p:spPr>
          <a:xfrm>
            <a:off x="983160" y="1768438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Pose Graph Optimization</a:t>
            </a:r>
          </a:p>
          <a:p>
            <a:pPr lvl="1">
              <a:lnSpc>
                <a:spcPct val="150000"/>
              </a:lnSpc>
              <a:buSzPct val="110911"/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Step 3: </a:t>
            </a:r>
            <a:r>
              <a:rPr lang="de-DE" dirty="0" err="1">
                <a:latin typeface="HSBI Lausanne 300"/>
              </a:rPr>
              <a:t>Solve</a:t>
            </a:r>
            <a:r>
              <a:rPr lang="de-DE" dirty="0">
                <a:latin typeface="HSBI Lausanne 300"/>
              </a:rPr>
              <a:t> </a:t>
            </a:r>
            <a:r>
              <a:rPr lang="de-DE" dirty="0" err="1">
                <a:latin typeface="HSBI Lausanne 300"/>
              </a:rPr>
              <a:t>Nonlinear</a:t>
            </a:r>
            <a:r>
              <a:rPr lang="de-DE" dirty="0">
                <a:latin typeface="HSBI Lausanne 300"/>
              </a:rPr>
              <a:t> Least Squares</a:t>
            </a:r>
          </a:p>
          <a:p>
            <a:pPr marL="742950" lvl="1" indent="-285750">
              <a:lnSpc>
                <a:spcPct val="150000"/>
              </a:lnSpc>
              <a:buSzPct val="110911"/>
              <a:buFontTx/>
              <a:buChar char="-"/>
            </a:pPr>
            <a:r>
              <a:rPr lang="de-DE" dirty="0">
                <a:latin typeface="HSBI Lausanne 300"/>
              </a:rPr>
              <a:t>Use </a:t>
            </a:r>
            <a:r>
              <a:rPr lang="de-DE" dirty="0" err="1">
                <a:latin typeface="HSBI Lausanne 300"/>
              </a:rPr>
              <a:t>optimization</a:t>
            </a:r>
            <a:r>
              <a:rPr lang="de-DE" dirty="0">
                <a:latin typeface="HSBI Lausanne 300"/>
              </a:rPr>
              <a:t> </a:t>
            </a:r>
            <a:r>
              <a:rPr lang="de-DE" dirty="0" err="1">
                <a:latin typeface="HSBI Lausanne 300"/>
              </a:rPr>
              <a:t>algorithms</a:t>
            </a:r>
            <a:r>
              <a:rPr lang="de-DE" dirty="0">
                <a:latin typeface="HSBI Lausanne 300"/>
              </a:rPr>
              <a:t>:</a:t>
            </a:r>
            <a:endParaRPr lang="en-US" dirty="0">
              <a:latin typeface="HSBI Lausanne 300"/>
            </a:endParaRPr>
          </a:p>
          <a:p>
            <a:pPr marL="1200150" lvl="2" indent="-285750">
              <a:lnSpc>
                <a:spcPct val="150000"/>
              </a:lnSpc>
              <a:buSzPct val="110911"/>
              <a:buFontTx/>
              <a:buChar char="-"/>
            </a:pPr>
            <a:r>
              <a:rPr lang="de-DE" dirty="0" err="1">
                <a:latin typeface="HSBI Lausanne 300"/>
              </a:rPr>
              <a:t>Gauss</a:t>
            </a:r>
            <a:r>
              <a:rPr lang="de-DE" dirty="0">
                <a:latin typeface="HSBI Lausanne 300"/>
              </a:rPr>
              <a:t>-Newton</a:t>
            </a:r>
          </a:p>
          <a:p>
            <a:pPr marL="1200150" lvl="2" indent="-285750">
              <a:lnSpc>
                <a:spcPct val="150000"/>
              </a:lnSpc>
              <a:buSzPct val="110911"/>
              <a:buFontTx/>
              <a:buChar char="-"/>
            </a:pPr>
            <a:r>
              <a:rPr lang="de-DE" dirty="0" err="1">
                <a:latin typeface="HSBI Lausanne 300"/>
              </a:rPr>
              <a:t>Dogleg</a:t>
            </a:r>
            <a:r>
              <a:rPr lang="de-DE" dirty="0">
                <a:latin typeface="HSBI Lausanne 300"/>
              </a:rPr>
              <a:t> </a:t>
            </a:r>
            <a:r>
              <a:rPr lang="de-DE" dirty="0" err="1">
                <a:latin typeface="HSBI Lausanne 300"/>
              </a:rPr>
              <a:t>methods</a:t>
            </a:r>
            <a:endParaRPr lang="de-DE" dirty="0">
              <a:latin typeface="HSBI Lausanne 300"/>
            </a:endParaRPr>
          </a:p>
          <a:p>
            <a:pPr marL="742950" lvl="1" indent="-285750">
              <a:lnSpc>
                <a:spcPct val="150000"/>
              </a:lnSpc>
              <a:buSzPct val="110911"/>
              <a:buFontTx/>
              <a:buChar char="-"/>
            </a:pPr>
            <a:r>
              <a:rPr lang="en-US" dirty="0">
                <a:latin typeface="HSBI Lausanne 300"/>
              </a:rPr>
              <a:t>Iteratively adjust node poses until convergence.</a:t>
            </a:r>
            <a:endParaRPr lang="de-DE" dirty="0">
              <a:latin typeface="HSBI Lausanne 300"/>
            </a:endParaRPr>
          </a:p>
          <a:p>
            <a:pPr lvl="1">
              <a:lnSpc>
                <a:spcPct val="150000"/>
              </a:lnSpc>
              <a:buSzPct val="110911"/>
            </a:pPr>
            <a:endParaRPr lang="en-US" dirty="0">
              <a:latin typeface="HSBI Lausanne 30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9222E8DA-FD92-D07B-68CE-7619EB2F65BE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776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/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/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cap="all" spc="15" dirty="0">
                <a:solidFill>
                  <a:schemeClr val="dk1"/>
                </a:solidFill>
                <a:latin typeface="HSBI Lausanne 300"/>
              </a:rPr>
              <a:t>Methods &amp; </a:t>
            </a:r>
            <a:r>
              <a:rPr lang="de-DE" sz="3000" cap="all" spc="15" dirty="0" err="1">
                <a:solidFill>
                  <a:schemeClr val="dk1"/>
                </a:solidFill>
                <a:latin typeface="HSBI Lausanne 300"/>
              </a:rPr>
              <a:t>implementations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/>
          <p:cNvSpPr/>
          <p:nvPr/>
        </p:nvSpPr>
        <p:spPr>
          <a:xfrm>
            <a:off x="983160" y="1768438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Pose Graph Optimization</a:t>
            </a:r>
          </a:p>
          <a:p>
            <a:pPr lvl="1">
              <a:lnSpc>
                <a:spcPct val="150000"/>
              </a:lnSpc>
              <a:buSzPct val="110911"/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Step 4: </a:t>
            </a:r>
            <a:r>
              <a:rPr lang="de-DE" dirty="0" err="1">
                <a:latin typeface="HSBI Lausanne 300"/>
              </a:rPr>
              <a:t>Correct</a:t>
            </a:r>
            <a:r>
              <a:rPr lang="de-DE" dirty="0">
                <a:latin typeface="HSBI Lausanne 300"/>
              </a:rPr>
              <a:t> Drift &amp; </a:t>
            </a:r>
            <a:r>
              <a:rPr lang="de-DE" dirty="0" err="1">
                <a:latin typeface="HSBI Lausanne 300"/>
              </a:rPr>
              <a:t>Align</a:t>
            </a:r>
            <a:r>
              <a:rPr lang="de-DE" dirty="0">
                <a:latin typeface="HSBI Lausanne 300"/>
              </a:rPr>
              <a:t> Loops</a:t>
            </a:r>
          </a:p>
          <a:p>
            <a:pPr marL="742950" lvl="1" indent="-285750">
              <a:lnSpc>
                <a:spcPct val="150000"/>
              </a:lnSpc>
              <a:buSzPct val="110911"/>
              <a:buFontTx/>
              <a:buChar char="-"/>
            </a:pPr>
            <a:r>
              <a:rPr lang="en-US" dirty="0">
                <a:latin typeface="HSBI Lausanne 300"/>
              </a:rPr>
              <a:t>Sequential odometry errors are reduced</a:t>
            </a:r>
          </a:p>
          <a:p>
            <a:pPr marL="742950" lvl="1" indent="-285750">
              <a:lnSpc>
                <a:spcPct val="150000"/>
              </a:lnSpc>
              <a:buSzPct val="110911"/>
              <a:buFontTx/>
              <a:buChar char="-"/>
            </a:pPr>
            <a:r>
              <a:rPr lang="en-US" dirty="0">
                <a:latin typeface="HSBI Lausanne 300"/>
              </a:rPr>
              <a:t>Loop closures are enforced → trajectory is globally consistent</a:t>
            </a:r>
            <a:endParaRPr lang="de-DE" dirty="0">
              <a:latin typeface="HSBI Lausanne 300"/>
            </a:endParaRPr>
          </a:p>
          <a:p>
            <a:pPr lvl="1">
              <a:lnSpc>
                <a:spcPct val="150000"/>
              </a:lnSpc>
              <a:buSzPct val="110911"/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Step 5: </a:t>
            </a:r>
            <a:r>
              <a:rPr lang="de-DE" dirty="0" err="1">
                <a:latin typeface="HSBI Lausanne 300"/>
              </a:rPr>
              <a:t>Result</a:t>
            </a:r>
            <a:endParaRPr lang="de-DE" dirty="0">
              <a:latin typeface="HSBI Lausanne 300"/>
            </a:endParaRPr>
          </a:p>
          <a:p>
            <a:pPr marL="742950" lvl="1" indent="-285750">
              <a:lnSpc>
                <a:spcPct val="150000"/>
              </a:lnSpc>
              <a:buSzPct val="110911"/>
              <a:buFontTx/>
              <a:buChar char="-"/>
            </a:pPr>
            <a:r>
              <a:rPr lang="en-US" dirty="0">
                <a:latin typeface="HSBI Lausanne 300"/>
              </a:rPr>
              <a:t>Optimized node poses → accurate robot trajectory</a:t>
            </a:r>
          </a:p>
          <a:p>
            <a:pPr marL="742950" lvl="1" indent="-285750">
              <a:lnSpc>
                <a:spcPct val="150000"/>
              </a:lnSpc>
              <a:buSzPct val="110911"/>
              <a:buFontTx/>
              <a:buChar char="-"/>
            </a:pPr>
            <a:r>
              <a:rPr lang="en-US" dirty="0">
                <a:latin typeface="HSBI Lausanne 300"/>
              </a:rPr>
              <a:t>Can be used to build high-quality maps (occupancy grids, point clouds)</a:t>
            </a:r>
          </a:p>
          <a:p>
            <a:pPr lvl="1">
              <a:lnSpc>
                <a:spcPct val="150000"/>
              </a:lnSpc>
              <a:buSzPct val="110911"/>
            </a:pPr>
            <a:endParaRPr lang="de-DE" dirty="0">
              <a:latin typeface="HSBI Lausanne 300"/>
            </a:endParaRPr>
          </a:p>
          <a:p>
            <a:pPr lvl="1">
              <a:lnSpc>
                <a:spcPct val="150000"/>
              </a:lnSpc>
              <a:buSzPct val="110911"/>
            </a:pPr>
            <a:endParaRPr lang="en-US" dirty="0">
              <a:latin typeface="HSBI Lausanne 30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9222E8DA-FD92-D07B-68CE-7619EB2F65BE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9473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/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/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cap="all" spc="15" dirty="0">
                <a:solidFill>
                  <a:schemeClr val="dk1"/>
                </a:solidFill>
                <a:latin typeface="HSBI Lausanne 300"/>
              </a:rPr>
              <a:t>Methods &amp; </a:t>
            </a:r>
            <a:r>
              <a:rPr lang="de-DE" sz="3000" cap="all" spc="15" dirty="0" err="1">
                <a:solidFill>
                  <a:schemeClr val="dk1"/>
                </a:solidFill>
                <a:latin typeface="HSBI Lausanne 300"/>
              </a:rPr>
              <a:t>implementations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/>
          <p:cNvSpPr/>
          <p:nvPr/>
        </p:nvSpPr>
        <p:spPr>
          <a:xfrm>
            <a:off x="983160" y="1768438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Pose Graph Optimization</a:t>
            </a:r>
            <a:endParaRPr lang="en-US" dirty="0">
              <a:latin typeface="HSBI Lausanne 300"/>
            </a:endParaRPr>
          </a:p>
          <a:p>
            <a:pPr lvl="1">
              <a:lnSpc>
                <a:spcPct val="150000"/>
              </a:lnSpc>
              <a:buSzPct val="110911"/>
            </a:pPr>
            <a:endParaRPr lang="de-DE" dirty="0">
              <a:latin typeface="HSBI Lausanne 300"/>
            </a:endParaRPr>
          </a:p>
          <a:p>
            <a:pPr lvl="1">
              <a:lnSpc>
                <a:spcPct val="150000"/>
              </a:lnSpc>
              <a:buSzPct val="110911"/>
            </a:pPr>
            <a:endParaRPr lang="en-US" dirty="0">
              <a:latin typeface="HSBI Lausanne 30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9222E8DA-FD92-D07B-68CE-7619EB2F65BE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2483B3F8-1087-5C3E-D39F-C551EE9ED9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8880" y="2178256"/>
            <a:ext cx="9220200" cy="399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058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/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/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cap="all" spc="15" dirty="0">
                <a:solidFill>
                  <a:schemeClr val="dk1"/>
                </a:solidFill>
                <a:latin typeface="HSBI Lausanne 300"/>
              </a:rPr>
              <a:t>Methods &amp; </a:t>
            </a:r>
            <a:r>
              <a:rPr lang="de-DE" sz="3000" cap="all" spc="15" dirty="0" err="1">
                <a:solidFill>
                  <a:schemeClr val="dk1"/>
                </a:solidFill>
                <a:latin typeface="HSBI Lausanne 300"/>
              </a:rPr>
              <a:t>implementations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/>
          <p:cNvSpPr/>
          <p:nvPr/>
        </p:nvSpPr>
        <p:spPr>
          <a:xfrm>
            <a:off x="983160" y="1768438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Occupancy Grid Map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dirty="0">
                <a:latin typeface="HSBI Lausanne 300"/>
              </a:rPr>
              <a:t>A way to represent the environment as a grid of cells.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b="0" i="0" dirty="0">
                <a:solidFill>
                  <a:srgbClr val="212121"/>
                </a:solidFill>
                <a:effectLst/>
                <a:latin typeface="HSBI Lausanne 300"/>
              </a:rPr>
              <a:t>Each cell in the occupancy grid has a value representing the probability of the occupancy of that cell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dirty="0">
                <a:latin typeface="HSBI Lausanne 300"/>
              </a:rPr>
              <a:t>Value close to 1 → cell likely occupied (obstacle).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dirty="0">
                <a:latin typeface="HSBI Lausanne 300"/>
              </a:rPr>
              <a:t>Value close to 0 → cell likely free (no obstacle).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trike="noStrike" spc="-1" dirty="0">
                <a:solidFill>
                  <a:srgbClr val="000000"/>
                </a:solidFill>
                <a:latin typeface="HSBI Lausanne 300"/>
              </a:rPr>
              <a:t>Value</a:t>
            </a:r>
            <a:r>
              <a:rPr lang="en-US" spc="-1" dirty="0">
                <a:solidFill>
                  <a:srgbClr val="000000"/>
                </a:solidFill>
                <a:latin typeface="HSBI Lausanne 300"/>
              </a:rPr>
              <a:t> = 0.5 </a:t>
            </a:r>
            <a:r>
              <a:rPr lang="en-US" dirty="0">
                <a:latin typeface="HSBI Lausanne 300"/>
              </a:rPr>
              <a:t>→ unknown</a:t>
            </a: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>
              <a:lnSpc>
                <a:spcPct val="150000"/>
              </a:lnSpc>
              <a:buSzPct val="110911"/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lvl="1">
              <a:lnSpc>
                <a:spcPct val="150000"/>
              </a:lnSpc>
              <a:buSzPct val="110911"/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9222E8DA-FD92-D07B-68CE-7619EB2F65BE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166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/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/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cap="all" spc="15" dirty="0">
                <a:solidFill>
                  <a:schemeClr val="dk1"/>
                </a:solidFill>
                <a:latin typeface="HSBI Lausanne 300"/>
              </a:rPr>
              <a:t>Methods &amp; </a:t>
            </a:r>
            <a:r>
              <a:rPr lang="de-DE" sz="3000" cap="all" spc="15" dirty="0" err="1">
                <a:solidFill>
                  <a:schemeClr val="dk1"/>
                </a:solidFill>
                <a:latin typeface="HSBI Lausanne 300"/>
              </a:rPr>
              <a:t>implementations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/>
          <p:cNvSpPr/>
          <p:nvPr/>
        </p:nvSpPr>
        <p:spPr>
          <a:xfrm>
            <a:off x="983160" y="1768438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Occupancy Grid Map</a:t>
            </a:r>
          </a:p>
          <a:p>
            <a:pPr>
              <a:lnSpc>
                <a:spcPct val="150000"/>
              </a:lnSpc>
              <a:buSzPct val="110911"/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lvl="1">
              <a:lnSpc>
                <a:spcPct val="150000"/>
              </a:lnSpc>
              <a:buSzPct val="110911"/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9222E8DA-FD92-D07B-68CE-7619EB2F65BE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1B73DAFF-438A-F83E-2984-A8985A612A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16" y="2359394"/>
            <a:ext cx="4699184" cy="330232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FB661DC-A9C9-008E-3FE8-A37298004C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2212" y="2359394"/>
            <a:ext cx="4389959" cy="3395451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4F1094C3-F90E-3495-A590-7AAA67C2F914}"/>
              </a:ext>
            </a:extLst>
          </p:cNvPr>
          <p:cNvSpPr txBox="1"/>
          <p:nvPr/>
        </p:nvSpPr>
        <p:spPr>
          <a:xfrm>
            <a:off x="1741714" y="5769426"/>
            <a:ext cx="274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>
                <a:latin typeface="HSBI Lausanne 300"/>
              </a:rPr>
              <a:t>Optimized</a:t>
            </a:r>
            <a:r>
              <a:rPr lang="de-DE" sz="1600" dirty="0">
                <a:latin typeface="HSBI Lausanne 300"/>
              </a:rPr>
              <a:t> Scans &amp; </a:t>
            </a:r>
            <a:r>
              <a:rPr lang="de-DE" sz="1600" dirty="0" err="1">
                <a:latin typeface="HSBI Lausanne 300"/>
              </a:rPr>
              <a:t>Poses</a:t>
            </a:r>
            <a:endParaRPr lang="de-DE" sz="1600" dirty="0">
              <a:latin typeface="HSBI Lausanne 30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63F01AA-5B18-9EB9-7626-5FFC1F6D29BF}"/>
              </a:ext>
            </a:extLst>
          </p:cNvPr>
          <p:cNvSpPr txBox="1"/>
          <p:nvPr/>
        </p:nvSpPr>
        <p:spPr>
          <a:xfrm>
            <a:off x="7554686" y="5805644"/>
            <a:ext cx="274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HSBI Lausanne 300"/>
              </a:rPr>
              <a:t>2D </a:t>
            </a:r>
            <a:r>
              <a:rPr lang="de-DE" sz="1600" dirty="0" err="1">
                <a:latin typeface="HSBI Lausanne 300"/>
              </a:rPr>
              <a:t>Probability</a:t>
            </a:r>
            <a:r>
              <a:rPr lang="de-DE" sz="1600" dirty="0">
                <a:latin typeface="HSBI Lausanne 300"/>
              </a:rPr>
              <a:t> </a:t>
            </a:r>
            <a:r>
              <a:rPr lang="de-DE" sz="1600" dirty="0" err="1">
                <a:latin typeface="HSBI Lausanne 300"/>
              </a:rPr>
              <a:t>Occupancy</a:t>
            </a:r>
            <a:r>
              <a:rPr lang="de-DE" sz="1600" dirty="0">
                <a:latin typeface="HSBI Lausanne 300"/>
              </a:rPr>
              <a:t> </a:t>
            </a:r>
            <a:r>
              <a:rPr lang="de-DE" sz="1600" dirty="0" err="1">
                <a:latin typeface="HSBI Lausanne 300"/>
              </a:rPr>
              <a:t>Grid</a:t>
            </a:r>
            <a:r>
              <a:rPr lang="de-DE" sz="1600" dirty="0">
                <a:latin typeface="HSBI Lausanne 300"/>
              </a:rPr>
              <a:t> </a:t>
            </a:r>
            <a:r>
              <a:rPr lang="de-DE" sz="1600" dirty="0" err="1">
                <a:latin typeface="HSBI Lausanne 300"/>
              </a:rPr>
              <a:t>Map</a:t>
            </a:r>
            <a:endParaRPr lang="de-DE" sz="1600" dirty="0">
              <a:latin typeface="HSBI Lausanne 300"/>
            </a:endParaRPr>
          </a:p>
        </p:txBody>
      </p:sp>
    </p:spTree>
    <p:extLst>
      <p:ext uri="{BB962C8B-B14F-4D97-AF65-F5344CB8AC3E}">
        <p14:creationId xmlns:p14="http://schemas.microsoft.com/office/powerpoint/2010/main" val="1922689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/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/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cap="all" spc="15" dirty="0">
                <a:solidFill>
                  <a:schemeClr val="dk1"/>
                </a:solidFill>
                <a:latin typeface="HSBI Lausanne 300"/>
              </a:rPr>
              <a:t>Methods &amp; </a:t>
            </a:r>
            <a:r>
              <a:rPr lang="de-DE" sz="3000" cap="all" spc="15" dirty="0" err="1">
                <a:solidFill>
                  <a:schemeClr val="dk1"/>
                </a:solidFill>
                <a:latin typeface="HSBI Lausanne 300"/>
              </a:rPr>
              <a:t>implementations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/>
          <p:cNvSpPr/>
          <p:nvPr/>
        </p:nvSpPr>
        <p:spPr>
          <a:xfrm>
            <a:off x="983160" y="1768438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trike="noStrike" spc="-1" dirty="0">
                <a:solidFill>
                  <a:srgbClr val="000000"/>
                </a:solidFill>
                <a:latin typeface="HSBI Lausanne 300"/>
              </a:rPr>
              <a:t>Workflow for </a:t>
            </a:r>
            <a:r>
              <a:rPr lang="en-US" spc="-1" dirty="0">
                <a:solidFill>
                  <a:srgbClr val="000000"/>
                </a:solidFill>
                <a:latin typeface="HSBI Lausanne 300"/>
              </a:rPr>
              <a:t>Optimized Path-Network Generation</a:t>
            </a: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>
              <a:lnSpc>
                <a:spcPct val="150000"/>
              </a:lnSpc>
              <a:buSzPct val="110911"/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9222E8DA-FD92-D07B-68CE-7619EB2F65BE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 descr="Ein Bild, das Text, Screenshot, Schrift, Design enthält.&#10;&#10;KI-generierte Inhalte können fehlerhaft sein.">
            <a:extLst>
              <a:ext uri="{FF2B5EF4-FFF2-40B4-BE49-F238E27FC236}">
                <a16:creationId xmlns:a16="http://schemas.microsoft.com/office/drawing/2014/main" id="{742183D2-AD73-9AC2-3B84-5411A6B0EA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3375" y="2318659"/>
            <a:ext cx="5863796" cy="376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78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6C4B3-15D6-33A1-EFC1-29C64013F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>
            <a:extLst>
              <a:ext uri="{FF2B5EF4-FFF2-40B4-BE49-F238E27FC236}">
                <a16:creationId xmlns:a16="http://schemas.microsoft.com/office/drawing/2014/main" id="{15987E96-F5D2-B3C5-4975-2EBEB0DC0913}"/>
              </a:ext>
            </a:extLst>
          </p:cNvPr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>
            <a:extLst>
              <a:ext uri="{FF2B5EF4-FFF2-40B4-BE49-F238E27FC236}">
                <a16:creationId xmlns:a16="http://schemas.microsoft.com/office/drawing/2014/main" id="{98F62DA4-73F5-E170-10C4-4325723BCDAC}"/>
              </a:ext>
            </a:extLst>
          </p:cNvPr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cap="all" spc="15" dirty="0">
                <a:solidFill>
                  <a:schemeClr val="dk1"/>
                </a:solidFill>
                <a:latin typeface="HSBI Lausanne 300"/>
              </a:rPr>
              <a:t>Methods &amp; </a:t>
            </a:r>
            <a:r>
              <a:rPr lang="de-DE" sz="3000" cap="all" spc="15" dirty="0" err="1">
                <a:solidFill>
                  <a:schemeClr val="dk1"/>
                </a:solidFill>
                <a:latin typeface="HSBI Lausanne 300"/>
              </a:rPr>
              <a:t>implementations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>
            <a:extLst>
              <a:ext uri="{FF2B5EF4-FFF2-40B4-BE49-F238E27FC236}">
                <a16:creationId xmlns:a16="http://schemas.microsoft.com/office/drawing/2014/main" id="{E7F6927C-AD9B-3A3F-93FD-39C979B94CA1}"/>
              </a:ext>
            </a:extLst>
          </p:cNvPr>
          <p:cNvSpPr/>
          <p:nvPr/>
        </p:nvSpPr>
        <p:spPr>
          <a:xfrm>
            <a:off x="983160" y="1768438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Path Planning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Finding a path from the current position to the goal position given a map of the environment.</a:t>
            </a:r>
          </a:p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Path Planning Algorithms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Search-based: A*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Sampling-based: RRT, RRT*</a:t>
            </a:r>
          </a:p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>
              <a:lnSpc>
                <a:spcPct val="150000"/>
              </a:lnSpc>
              <a:buSzPct val="110911"/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DF115D40-91CD-D703-D793-2883D1E45B92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03FE537B-A6D2-6428-DB66-CA8618E7C007}"/>
              </a:ext>
            </a:extLst>
          </p:cNvPr>
          <p:cNvSpPr txBox="1"/>
          <p:nvPr/>
        </p:nvSpPr>
        <p:spPr>
          <a:xfrm>
            <a:off x="664026" y="5759796"/>
            <a:ext cx="9252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SBI Lausanne 300"/>
              </a:rPr>
              <a:t>1. Bailey, Tim, and Hugh </a:t>
            </a:r>
            <a:r>
              <a:rPr lang="en-US" sz="1200" dirty="0" err="1">
                <a:latin typeface="HSBI Lausanne 300"/>
              </a:rPr>
              <a:t>Durrant</a:t>
            </a:r>
            <a:r>
              <a:rPr lang="en-US" sz="1200" dirty="0">
                <a:latin typeface="HSBI Lausanne 300"/>
              </a:rPr>
              <a:t>-Whyte. "Simultaneous localization and mapping (SLAM): Part II." IEEE robotics &amp; automation magazine 13.3 (2006): 108-117. </a:t>
            </a:r>
            <a:endParaRPr lang="de-DE" sz="1200" dirty="0">
              <a:latin typeface="HSBI Lausanne 300"/>
            </a:endParaRP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BD6C5061-4BBC-9344-C2D8-288CEE4DDA57}"/>
              </a:ext>
            </a:extLst>
          </p:cNvPr>
          <p:cNvCxnSpPr>
            <a:cxnSpLocks/>
          </p:cNvCxnSpPr>
          <p:nvPr/>
        </p:nvCxnSpPr>
        <p:spPr>
          <a:xfrm>
            <a:off x="761999" y="5725890"/>
            <a:ext cx="360317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0743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8774B-0257-5197-85CF-A7FC13B17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>
            <a:extLst>
              <a:ext uri="{FF2B5EF4-FFF2-40B4-BE49-F238E27FC236}">
                <a16:creationId xmlns:a16="http://schemas.microsoft.com/office/drawing/2014/main" id="{8779C776-9E29-2BCE-8C6C-275F142823FB}"/>
              </a:ext>
            </a:extLst>
          </p:cNvPr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>
            <a:extLst>
              <a:ext uri="{FF2B5EF4-FFF2-40B4-BE49-F238E27FC236}">
                <a16:creationId xmlns:a16="http://schemas.microsoft.com/office/drawing/2014/main" id="{F12F8841-5E8E-6CDB-DD8E-42216A807DDA}"/>
              </a:ext>
            </a:extLst>
          </p:cNvPr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cap="all" spc="15" dirty="0">
                <a:solidFill>
                  <a:schemeClr val="dk1"/>
                </a:solidFill>
                <a:latin typeface="HSBI Lausanne 300"/>
              </a:rPr>
              <a:t>Methods &amp; </a:t>
            </a:r>
            <a:r>
              <a:rPr lang="de-DE" sz="3000" cap="all" spc="15" dirty="0" err="1">
                <a:solidFill>
                  <a:schemeClr val="dk1"/>
                </a:solidFill>
                <a:latin typeface="HSBI Lausanne 300"/>
              </a:rPr>
              <a:t>implementations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>
            <a:extLst>
              <a:ext uri="{FF2B5EF4-FFF2-40B4-BE49-F238E27FC236}">
                <a16:creationId xmlns:a16="http://schemas.microsoft.com/office/drawing/2014/main" id="{BDDCBD78-A082-4B75-F5F3-4BA87635CBA2}"/>
              </a:ext>
            </a:extLst>
          </p:cNvPr>
          <p:cNvSpPr/>
          <p:nvPr/>
        </p:nvSpPr>
        <p:spPr>
          <a:xfrm>
            <a:off x="983160" y="1768438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A*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A popular graph traversal path planning algorithm.</a:t>
            </a:r>
            <a:endParaRPr lang="en-GB" dirty="0"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Heuristic-Based: Combines actual cost from the start with estimated cost to the goal.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pt-BR" dirty="0">
                <a:latin typeface="HSBI Lausanne 300"/>
              </a:rPr>
              <a:t>Evaluation function, f(n)=g(n)+h(n) </a:t>
            </a:r>
          </a:p>
          <a:p>
            <a:pPr marL="1143000" lvl="2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pt-BR" dirty="0">
                <a:latin typeface="HSBI Lausanne 300"/>
              </a:rPr>
              <a:t>Where,f(n) is </a:t>
            </a:r>
            <a:r>
              <a:rPr lang="en-US" dirty="0">
                <a:latin typeface="-apple-system"/>
              </a:rPr>
              <a:t>the e</a:t>
            </a:r>
            <a:r>
              <a:rPr lang="en-US" b="0" i="0" dirty="0">
                <a:effectLst/>
                <a:latin typeface="-apple-system"/>
              </a:rPr>
              <a:t>stimated total cost of the path through node </a:t>
            </a:r>
            <a:r>
              <a:rPr lang="en-US" b="0" i="1" dirty="0">
                <a:effectLst/>
                <a:latin typeface="-apple-system"/>
              </a:rPr>
              <a:t>n</a:t>
            </a:r>
            <a:r>
              <a:rPr lang="en-US" b="0" i="0" dirty="0">
                <a:effectLst/>
                <a:latin typeface="-apple-system"/>
              </a:rPr>
              <a:t>.</a:t>
            </a:r>
            <a:endParaRPr lang="pt-BR" dirty="0">
              <a:latin typeface="HSBI Lausanne 300"/>
            </a:endParaRPr>
          </a:p>
          <a:p>
            <a:pPr marL="1143000" lvl="2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pt-BR" dirty="0">
                <a:latin typeface="HSBI Lausanne 300"/>
              </a:rPr>
              <a:t> g(n) is </a:t>
            </a:r>
            <a:r>
              <a:rPr lang="en-US" dirty="0">
                <a:latin typeface="-apple-system"/>
              </a:rPr>
              <a:t>a</a:t>
            </a:r>
            <a:r>
              <a:rPr lang="en-US" b="0" i="0" dirty="0">
                <a:effectLst/>
                <a:latin typeface="-apple-system"/>
              </a:rPr>
              <a:t>ctual cost from the start node to </a:t>
            </a:r>
            <a:r>
              <a:rPr lang="en-US" b="0" i="1" dirty="0">
                <a:effectLst/>
                <a:latin typeface="-apple-system"/>
              </a:rPr>
              <a:t>n</a:t>
            </a:r>
            <a:r>
              <a:rPr lang="en-US" b="0" i="0" dirty="0">
                <a:effectLst/>
                <a:latin typeface="-apple-system"/>
              </a:rPr>
              <a:t>.</a:t>
            </a:r>
          </a:p>
          <a:p>
            <a:pPr marL="1143000" lvl="2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pt-BR" dirty="0">
                <a:latin typeface="HSBI Lausanne 300"/>
              </a:rPr>
              <a:t>h(n) is </a:t>
            </a:r>
            <a:r>
              <a:rPr lang="en-US" dirty="0">
                <a:latin typeface="-apple-system"/>
              </a:rPr>
              <a:t>e</a:t>
            </a:r>
            <a:r>
              <a:rPr lang="en-US" b="0" i="0" dirty="0">
                <a:effectLst/>
                <a:latin typeface="-apple-system"/>
              </a:rPr>
              <a:t>stimated cost (heuristic) from </a:t>
            </a:r>
            <a:r>
              <a:rPr lang="en-US" b="0" i="1" dirty="0">
                <a:effectLst/>
                <a:latin typeface="-apple-system"/>
              </a:rPr>
              <a:t>n</a:t>
            </a:r>
            <a:r>
              <a:rPr lang="en-US" b="0" i="0" dirty="0">
                <a:effectLst/>
                <a:latin typeface="-apple-system"/>
              </a:rPr>
              <a:t> to the goal node.</a:t>
            </a:r>
          </a:p>
          <a:p>
            <a:pPr lvl="1">
              <a:lnSpc>
                <a:spcPct val="150000"/>
              </a:lnSpc>
              <a:buSzPct val="110911"/>
            </a:pPr>
            <a:endParaRPr lang="en-GB" dirty="0"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pt-BR" dirty="0">
              <a:latin typeface="HSBI Lausanne 300"/>
            </a:endParaRPr>
          </a:p>
          <a:p>
            <a:pPr marL="1143000" lvl="2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>
              <a:lnSpc>
                <a:spcPct val="150000"/>
              </a:lnSpc>
              <a:buSzPct val="110911"/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0B4B3DFA-74CD-AAB7-98C0-81B581375C0D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5B4ECE7E-339C-DD4E-9D1B-D91E5D2860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553" y="4750499"/>
            <a:ext cx="4478854" cy="132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927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8774B-0257-5197-85CF-A7FC13B17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>
            <a:extLst>
              <a:ext uri="{FF2B5EF4-FFF2-40B4-BE49-F238E27FC236}">
                <a16:creationId xmlns:a16="http://schemas.microsoft.com/office/drawing/2014/main" id="{8779C776-9E29-2BCE-8C6C-275F142823FB}"/>
              </a:ext>
            </a:extLst>
          </p:cNvPr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>
            <a:extLst>
              <a:ext uri="{FF2B5EF4-FFF2-40B4-BE49-F238E27FC236}">
                <a16:creationId xmlns:a16="http://schemas.microsoft.com/office/drawing/2014/main" id="{F12F8841-5E8E-6CDB-DD8E-42216A807DDA}"/>
              </a:ext>
            </a:extLst>
          </p:cNvPr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cap="all" spc="15" dirty="0">
                <a:solidFill>
                  <a:schemeClr val="dk1"/>
                </a:solidFill>
                <a:latin typeface="HSBI Lausanne 300"/>
              </a:rPr>
              <a:t>Methods &amp; </a:t>
            </a:r>
            <a:r>
              <a:rPr lang="de-DE" sz="3000" cap="all" spc="15" dirty="0" err="1">
                <a:solidFill>
                  <a:schemeClr val="dk1"/>
                </a:solidFill>
                <a:latin typeface="HSBI Lausanne 300"/>
              </a:rPr>
              <a:t>implementations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>
            <a:extLst>
              <a:ext uri="{FF2B5EF4-FFF2-40B4-BE49-F238E27FC236}">
                <a16:creationId xmlns:a16="http://schemas.microsoft.com/office/drawing/2014/main" id="{BDDCBD78-A082-4B75-F5F3-4BA87635CBA2}"/>
              </a:ext>
            </a:extLst>
          </p:cNvPr>
          <p:cNvSpPr/>
          <p:nvPr/>
        </p:nvSpPr>
        <p:spPr>
          <a:xfrm>
            <a:off x="983160" y="1768438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A*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GB" dirty="0">
                <a:latin typeface="HSBI Lausanne 300"/>
              </a:rPr>
              <a:t>Optimality: Guarantees the shortest path if the heuristic is admissible (never overestimates).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i="0" dirty="0">
                <a:effectLst/>
                <a:latin typeface="HSBI Lausanne 300"/>
              </a:rPr>
              <a:t>Completeness:</a:t>
            </a:r>
            <a:r>
              <a:rPr lang="en-US" dirty="0">
                <a:latin typeface="HSBI Lausanne 300"/>
              </a:rPr>
              <a:t> </a:t>
            </a:r>
            <a:r>
              <a:rPr lang="en-US" i="0" dirty="0">
                <a:effectLst/>
                <a:latin typeface="HSBI Lausanne 300"/>
              </a:rPr>
              <a:t>If a path exists, A* will always find it.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i="0" dirty="0">
                <a:effectLst/>
                <a:latin typeface="HSBI Lausanne 300"/>
              </a:rPr>
              <a:t>The performance of A* depends heavily on the heuristic function chosen.</a:t>
            </a:r>
            <a:endParaRPr lang="en-US" dirty="0"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i="0" dirty="0">
                <a:effectLst/>
                <a:latin typeface="HSBI Lausanne 300"/>
              </a:rPr>
              <a:t>Works with different heuristics like Manhattan distance, Euclidean distance, or custom heuristics depending on the problem.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pt-BR" dirty="0"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>
              <a:lnSpc>
                <a:spcPct val="150000"/>
              </a:lnSpc>
              <a:buSzPct val="110911"/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0B4B3DFA-74CD-AAB7-98C0-81B581375C0D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917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F687C-6DAE-5F8C-B87E-EBF3F68A0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>
            <a:extLst>
              <a:ext uri="{FF2B5EF4-FFF2-40B4-BE49-F238E27FC236}">
                <a16:creationId xmlns:a16="http://schemas.microsoft.com/office/drawing/2014/main" id="{502B7ACE-08D1-7640-EC75-97FBF51D19BA}"/>
              </a:ext>
            </a:extLst>
          </p:cNvPr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>
            <a:extLst>
              <a:ext uri="{FF2B5EF4-FFF2-40B4-BE49-F238E27FC236}">
                <a16:creationId xmlns:a16="http://schemas.microsoft.com/office/drawing/2014/main" id="{35F6BF71-82F0-DF45-59EF-3CDA95EF3C6E}"/>
              </a:ext>
            </a:extLst>
          </p:cNvPr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cap="all" spc="15" dirty="0">
                <a:solidFill>
                  <a:schemeClr val="dk1"/>
                </a:solidFill>
                <a:latin typeface="HSBI Lausanne 300"/>
              </a:rPr>
              <a:t>Methods &amp; </a:t>
            </a:r>
            <a:r>
              <a:rPr lang="de-DE" sz="3000" cap="all" spc="15" dirty="0" err="1">
                <a:solidFill>
                  <a:schemeClr val="dk1"/>
                </a:solidFill>
                <a:latin typeface="HSBI Lausanne 300"/>
              </a:rPr>
              <a:t>implementations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>
            <a:extLst>
              <a:ext uri="{FF2B5EF4-FFF2-40B4-BE49-F238E27FC236}">
                <a16:creationId xmlns:a16="http://schemas.microsoft.com/office/drawing/2014/main" id="{78953423-37A0-7D64-1F7E-953675A02232}"/>
              </a:ext>
            </a:extLst>
          </p:cNvPr>
          <p:cNvSpPr/>
          <p:nvPr/>
        </p:nvSpPr>
        <p:spPr>
          <a:xfrm>
            <a:off x="983160" y="1768438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Workings of A*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b="1" spc="-1" dirty="0">
                <a:solidFill>
                  <a:srgbClr val="000000"/>
                </a:solidFill>
                <a:latin typeface="HSBI Lausanne 300"/>
              </a:rPr>
              <a:t>Initialization</a:t>
            </a:r>
          </a:p>
          <a:p>
            <a:pPr marL="1143000" lvl="2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Setting up two essential lists:</a:t>
            </a:r>
          </a:p>
          <a:p>
            <a:pPr marL="1600200" lvl="3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“open” list: initialize with starting node</a:t>
            </a:r>
          </a:p>
          <a:p>
            <a:pPr marL="1600200" lvl="3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“closed” list: begins empty</a:t>
            </a:r>
          </a:p>
          <a:p>
            <a:pPr marL="1143000" lvl="2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Each node stores 4 critical information:</a:t>
            </a:r>
          </a:p>
          <a:p>
            <a:pPr marL="1600200" lvl="3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b="0" i="0" u="none" strike="noStrike" dirty="0">
                <a:solidFill>
                  <a:srgbClr val="05192D"/>
                </a:solidFill>
                <a:effectLst/>
                <a:latin typeface="HSBI Lausanne 300"/>
              </a:rPr>
              <a:t>g: The actual cost from the start node</a:t>
            </a:r>
            <a:endParaRPr lang="en-US" b="0" i="0" dirty="0">
              <a:solidFill>
                <a:srgbClr val="05192D"/>
              </a:solidFill>
              <a:effectLst/>
              <a:latin typeface="HSBI Lausanne 300"/>
            </a:endParaRPr>
          </a:p>
          <a:p>
            <a:pPr marL="1600200" lvl="3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b="0" i="0" u="none" strike="noStrike" dirty="0">
                <a:solidFill>
                  <a:srgbClr val="05192D"/>
                </a:solidFill>
                <a:effectLst/>
                <a:latin typeface="HSBI Lausanne 300"/>
              </a:rPr>
              <a:t>h: The estimated cost to the goal</a:t>
            </a:r>
            <a:endParaRPr lang="en-US" b="0" i="0" dirty="0">
              <a:solidFill>
                <a:srgbClr val="05192D"/>
              </a:solidFill>
              <a:effectLst/>
              <a:latin typeface="HSBI Lausanne 300"/>
            </a:endParaRPr>
          </a:p>
          <a:p>
            <a:pPr marL="1600200" lvl="3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b="0" i="0" u="none" strike="noStrike" dirty="0">
                <a:solidFill>
                  <a:srgbClr val="05192D"/>
                </a:solidFill>
                <a:effectLst/>
                <a:latin typeface="HSBI Lausanne 300"/>
              </a:rPr>
              <a:t>f: The sum of g and h</a:t>
            </a:r>
            <a:endParaRPr lang="en-US" b="0" i="0" dirty="0">
              <a:solidFill>
                <a:srgbClr val="05192D"/>
              </a:solidFill>
              <a:effectLst/>
              <a:latin typeface="HSBI Lausanne 300"/>
            </a:endParaRPr>
          </a:p>
          <a:p>
            <a:pPr marL="1600200" lvl="3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b="0" i="0" u="none" strike="noStrike" dirty="0">
                <a:solidFill>
                  <a:srgbClr val="05192D"/>
                </a:solidFill>
                <a:effectLst/>
                <a:latin typeface="HSBI Lausanne 300"/>
              </a:rPr>
              <a:t>parent: Reference to the previous node (for path reconstruction)</a:t>
            </a:r>
            <a:endParaRPr lang="en-US" b="0" i="0" dirty="0">
              <a:solidFill>
                <a:srgbClr val="05192D"/>
              </a:solidFill>
              <a:effectLst/>
              <a:latin typeface="HSBI Lausanne 300"/>
            </a:endParaRPr>
          </a:p>
          <a:p>
            <a:pPr marL="1600200" lvl="3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>
              <a:lnSpc>
                <a:spcPct val="150000"/>
              </a:lnSpc>
              <a:buSzPct val="110911"/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C6FB9189-1269-656F-1EC5-38BF3A52FAE9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442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F687C-6DAE-5F8C-B87E-EBF3F68A0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>
            <a:extLst>
              <a:ext uri="{FF2B5EF4-FFF2-40B4-BE49-F238E27FC236}">
                <a16:creationId xmlns:a16="http://schemas.microsoft.com/office/drawing/2014/main" id="{502B7ACE-08D1-7640-EC75-97FBF51D19BA}"/>
              </a:ext>
            </a:extLst>
          </p:cNvPr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>
            <a:extLst>
              <a:ext uri="{FF2B5EF4-FFF2-40B4-BE49-F238E27FC236}">
                <a16:creationId xmlns:a16="http://schemas.microsoft.com/office/drawing/2014/main" id="{35F6BF71-82F0-DF45-59EF-3CDA95EF3C6E}"/>
              </a:ext>
            </a:extLst>
          </p:cNvPr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cap="all" spc="15" dirty="0">
                <a:solidFill>
                  <a:schemeClr val="dk1"/>
                </a:solidFill>
                <a:latin typeface="HSBI Lausanne 300"/>
              </a:rPr>
              <a:t>Methods &amp; </a:t>
            </a:r>
            <a:r>
              <a:rPr lang="de-DE" sz="3000" cap="all" spc="15" dirty="0" err="1">
                <a:solidFill>
                  <a:schemeClr val="dk1"/>
                </a:solidFill>
                <a:latin typeface="HSBI Lausanne 300"/>
              </a:rPr>
              <a:t>implementations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>
            <a:extLst>
              <a:ext uri="{FF2B5EF4-FFF2-40B4-BE49-F238E27FC236}">
                <a16:creationId xmlns:a16="http://schemas.microsoft.com/office/drawing/2014/main" id="{78953423-37A0-7D64-1F7E-953675A02232}"/>
              </a:ext>
            </a:extLst>
          </p:cNvPr>
          <p:cNvSpPr/>
          <p:nvPr/>
        </p:nvSpPr>
        <p:spPr>
          <a:xfrm>
            <a:off x="983160" y="1768438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Workings of A*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b="1" i="0" spc="-1" dirty="0">
                <a:solidFill>
                  <a:srgbClr val="000000"/>
                </a:solidFill>
                <a:effectLst/>
                <a:latin typeface="HSBI Lausanne 300"/>
              </a:rPr>
              <a:t>Main Loop</a:t>
            </a:r>
            <a:r>
              <a:rPr lang="en-US" b="0" i="0" spc="-1" dirty="0">
                <a:solidFill>
                  <a:srgbClr val="000000"/>
                </a:solidFill>
                <a:effectLst/>
                <a:latin typeface="HSBI Lausanne 300"/>
              </a:rPr>
              <a:t>:</a:t>
            </a:r>
          </a:p>
          <a:p>
            <a:pPr marL="1143000" lvl="2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dirty="0">
                <a:solidFill>
                  <a:srgbClr val="05192D"/>
                </a:solidFill>
                <a:latin typeface="HSBI Lausanne 300"/>
              </a:rPr>
              <a:t>The main loop will </a:t>
            </a:r>
            <a:r>
              <a:rPr lang="en-US" b="0" i="0" dirty="0">
                <a:solidFill>
                  <a:srgbClr val="05192D"/>
                </a:solidFill>
                <a:effectLst/>
                <a:latin typeface="HSBI Lausanne 300"/>
              </a:rPr>
              <a:t>continues until either:</a:t>
            </a:r>
          </a:p>
          <a:p>
            <a:pPr marL="1600200" lvl="3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dirty="0">
                <a:latin typeface="HSBI Lausanne 300"/>
              </a:rPr>
              <a:t>The goal is reached (success)</a:t>
            </a:r>
          </a:p>
          <a:p>
            <a:pPr marL="1600200" lvl="3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dirty="0">
                <a:latin typeface="HSBI Lausanne 300"/>
              </a:rPr>
              <a:t>The open list becomes empty (failure - no path exists)</a:t>
            </a:r>
          </a:p>
          <a:p>
            <a:pPr marL="1143000" lvl="2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dirty="0">
                <a:latin typeface="HSBI Lausanne 300"/>
              </a:rPr>
              <a:t>During each iteration, the algorithm:</a:t>
            </a:r>
          </a:p>
          <a:p>
            <a:pPr marL="1600200" lvl="3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dirty="0">
                <a:latin typeface="HSBI Lausanne 300"/>
              </a:rPr>
              <a:t>Selects the most promising node (lowest f value) from the open list</a:t>
            </a:r>
          </a:p>
          <a:p>
            <a:pPr marL="1600200" lvl="3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dirty="0">
                <a:latin typeface="HSBI Lausanne 300"/>
              </a:rPr>
              <a:t>Moves it to the closed list</a:t>
            </a:r>
          </a:p>
          <a:p>
            <a:pPr marL="1600200" lvl="3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de-DE" dirty="0" err="1">
                <a:latin typeface="HSBI Lausanne 300"/>
              </a:rPr>
              <a:t>Examines</a:t>
            </a:r>
            <a:r>
              <a:rPr lang="de-DE" dirty="0">
                <a:latin typeface="HSBI Lausanne 300"/>
              </a:rPr>
              <a:t> all </a:t>
            </a:r>
            <a:r>
              <a:rPr lang="de-DE" dirty="0" err="1">
                <a:latin typeface="HSBI Lausanne 300"/>
              </a:rPr>
              <a:t>neighboring</a:t>
            </a:r>
            <a:r>
              <a:rPr lang="de-DE" dirty="0">
                <a:latin typeface="HSBI Lausanne 300"/>
              </a:rPr>
              <a:t> </a:t>
            </a:r>
            <a:r>
              <a:rPr lang="de-DE" dirty="0" err="1">
                <a:latin typeface="HSBI Lausanne 300"/>
              </a:rPr>
              <a:t>nodes</a:t>
            </a:r>
            <a:endParaRPr lang="de-DE" dirty="0">
              <a:latin typeface="HSBI Lausanne 300"/>
            </a:endParaRPr>
          </a:p>
          <a:p>
            <a:pPr marL="1600200" lvl="3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dirty="0">
              <a:latin typeface="HSBI Lausanne 300"/>
            </a:endParaRPr>
          </a:p>
          <a:p>
            <a:pPr marL="1600200" lvl="3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b="0" i="0" dirty="0">
              <a:solidFill>
                <a:srgbClr val="05192D"/>
              </a:solidFill>
              <a:effectLst/>
              <a:latin typeface="HSBI Lausanne 300"/>
            </a:endParaRPr>
          </a:p>
          <a:p>
            <a:pPr marL="1600200" lvl="3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>
              <a:lnSpc>
                <a:spcPct val="150000"/>
              </a:lnSpc>
              <a:buSzPct val="110911"/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C6FB9189-1269-656F-1EC5-38BF3A52FAE9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0709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F687C-6DAE-5F8C-B87E-EBF3F68A0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>
            <a:extLst>
              <a:ext uri="{FF2B5EF4-FFF2-40B4-BE49-F238E27FC236}">
                <a16:creationId xmlns:a16="http://schemas.microsoft.com/office/drawing/2014/main" id="{502B7ACE-08D1-7640-EC75-97FBF51D19BA}"/>
              </a:ext>
            </a:extLst>
          </p:cNvPr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>
            <a:extLst>
              <a:ext uri="{FF2B5EF4-FFF2-40B4-BE49-F238E27FC236}">
                <a16:creationId xmlns:a16="http://schemas.microsoft.com/office/drawing/2014/main" id="{35F6BF71-82F0-DF45-59EF-3CDA95EF3C6E}"/>
              </a:ext>
            </a:extLst>
          </p:cNvPr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cap="all" spc="15" dirty="0">
                <a:solidFill>
                  <a:schemeClr val="dk1"/>
                </a:solidFill>
                <a:latin typeface="HSBI Lausanne 300"/>
              </a:rPr>
              <a:t>Methods &amp; </a:t>
            </a:r>
            <a:r>
              <a:rPr lang="de-DE" sz="3000" cap="all" spc="15" dirty="0" err="1">
                <a:solidFill>
                  <a:schemeClr val="dk1"/>
                </a:solidFill>
                <a:latin typeface="HSBI Lausanne 300"/>
              </a:rPr>
              <a:t>implementations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>
            <a:extLst>
              <a:ext uri="{FF2B5EF4-FFF2-40B4-BE49-F238E27FC236}">
                <a16:creationId xmlns:a16="http://schemas.microsoft.com/office/drawing/2014/main" id="{78953423-37A0-7D64-1F7E-953675A02232}"/>
              </a:ext>
            </a:extLst>
          </p:cNvPr>
          <p:cNvSpPr/>
          <p:nvPr/>
        </p:nvSpPr>
        <p:spPr>
          <a:xfrm>
            <a:off x="983160" y="1768438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Workings of A*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b="1" spc="-1" dirty="0">
                <a:solidFill>
                  <a:srgbClr val="000000"/>
                </a:solidFill>
                <a:latin typeface="HSBI Lausanne 300"/>
              </a:rPr>
              <a:t>Neighbor Evaluation</a:t>
            </a:r>
            <a:r>
              <a:rPr lang="en-US" b="0" i="0" spc="-1" dirty="0">
                <a:solidFill>
                  <a:srgbClr val="000000"/>
                </a:solidFill>
                <a:effectLst/>
                <a:latin typeface="HSBI Lausanne 300"/>
              </a:rPr>
              <a:t>:</a:t>
            </a:r>
          </a:p>
          <a:p>
            <a:pPr marL="1143000" lvl="2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dirty="0">
                <a:latin typeface="HSBI Lausanne 300"/>
              </a:rPr>
              <a:t>For each neighbor, the algorithm:</a:t>
            </a:r>
          </a:p>
          <a:p>
            <a:pPr marL="1600200" lvl="3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dirty="0">
                <a:latin typeface="HSBI Lausanne 300"/>
              </a:rPr>
              <a:t>Skips nodes already in the closed list</a:t>
            </a:r>
          </a:p>
          <a:p>
            <a:pPr marL="1600200" lvl="3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de-DE" dirty="0">
                <a:latin typeface="HSBI Lausanne 300"/>
              </a:rPr>
              <a:t>Calculates a tentative g score</a:t>
            </a:r>
          </a:p>
          <a:p>
            <a:pPr marL="1600200" lvl="3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dirty="0">
                <a:latin typeface="HSBI Lausanne 300"/>
              </a:rPr>
              <a:t>Updates node values if a better path is found</a:t>
            </a:r>
          </a:p>
          <a:p>
            <a:pPr marL="1600200" lvl="3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dirty="0">
                <a:latin typeface="HSBI Lausanne 300"/>
              </a:rPr>
              <a:t>Adds new nodes to the open list</a:t>
            </a:r>
          </a:p>
          <a:p>
            <a:pPr lvl="3">
              <a:lnSpc>
                <a:spcPct val="150000"/>
              </a:lnSpc>
              <a:buSzPct val="110911"/>
            </a:pPr>
            <a:endParaRPr lang="en-US" dirty="0">
              <a:latin typeface="HSBI Lausanne 300"/>
            </a:endParaRPr>
          </a:p>
          <a:p>
            <a:pPr lvl="3">
              <a:lnSpc>
                <a:spcPct val="150000"/>
              </a:lnSpc>
              <a:buSzPct val="110911"/>
            </a:pPr>
            <a:endParaRPr lang="en-US" dirty="0">
              <a:latin typeface="HSBI Lausanne 300"/>
            </a:endParaRPr>
          </a:p>
          <a:p>
            <a:pPr marL="1600200" lvl="3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b="0" i="0" dirty="0">
              <a:solidFill>
                <a:srgbClr val="05192D"/>
              </a:solidFill>
              <a:effectLst/>
              <a:latin typeface="HSBI Lausanne 300"/>
            </a:endParaRPr>
          </a:p>
          <a:p>
            <a:pPr marL="1600200" lvl="3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>
              <a:lnSpc>
                <a:spcPct val="150000"/>
              </a:lnSpc>
              <a:buSzPct val="110911"/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C6FB9189-1269-656F-1EC5-38BF3A52FAE9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7846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F687C-6DAE-5F8C-B87E-EBF3F68A0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>
            <a:extLst>
              <a:ext uri="{FF2B5EF4-FFF2-40B4-BE49-F238E27FC236}">
                <a16:creationId xmlns:a16="http://schemas.microsoft.com/office/drawing/2014/main" id="{502B7ACE-08D1-7640-EC75-97FBF51D19BA}"/>
              </a:ext>
            </a:extLst>
          </p:cNvPr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>
            <a:extLst>
              <a:ext uri="{FF2B5EF4-FFF2-40B4-BE49-F238E27FC236}">
                <a16:creationId xmlns:a16="http://schemas.microsoft.com/office/drawing/2014/main" id="{35F6BF71-82F0-DF45-59EF-3CDA95EF3C6E}"/>
              </a:ext>
            </a:extLst>
          </p:cNvPr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cap="all" spc="15" dirty="0">
                <a:solidFill>
                  <a:schemeClr val="dk1"/>
                </a:solidFill>
                <a:latin typeface="HSBI Lausanne 300"/>
              </a:rPr>
              <a:t>Methods &amp; </a:t>
            </a:r>
            <a:r>
              <a:rPr lang="de-DE" sz="3000" cap="all" spc="15" dirty="0" err="1">
                <a:solidFill>
                  <a:schemeClr val="dk1"/>
                </a:solidFill>
                <a:latin typeface="HSBI Lausanne 300"/>
              </a:rPr>
              <a:t>implementations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>
            <a:extLst>
              <a:ext uri="{FF2B5EF4-FFF2-40B4-BE49-F238E27FC236}">
                <a16:creationId xmlns:a16="http://schemas.microsoft.com/office/drawing/2014/main" id="{78953423-37A0-7D64-1F7E-953675A02232}"/>
              </a:ext>
            </a:extLst>
          </p:cNvPr>
          <p:cNvSpPr/>
          <p:nvPr/>
        </p:nvSpPr>
        <p:spPr>
          <a:xfrm>
            <a:off x="983160" y="1768438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Workings of A*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de-DE" b="1" dirty="0">
                <a:latin typeface="HSBI Lausanne 300"/>
              </a:rPr>
              <a:t>Path </a:t>
            </a:r>
            <a:r>
              <a:rPr lang="de-DE" b="1" dirty="0" err="1">
                <a:latin typeface="HSBI Lausanne 300"/>
              </a:rPr>
              <a:t>reconstruction</a:t>
            </a:r>
            <a:r>
              <a:rPr lang="en-US" b="1" i="0" spc="-1" dirty="0">
                <a:solidFill>
                  <a:srgbClr val="000000"/>
                </a:solidFill>
                <a:effectLst/>
                <a:latin typeface="HSBI Lausanne 300"/>
              </a:rPr>
              <a:t>:</a:t>
            </a:r>
          </a:p>
          <a:p>
            <a:pPr marL="1143000" lvl="2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dirty="0">
                <a:latin typeface="HSBI Lausanne 300"/>
              </a:rPr>
              <a:t>Once the goal is reached, the algorithm works backward through the parent references to construct the optimal path from start to goal.</a:t>
            </a:r>
          </a:p>
          <a:p>
            <a:pPr lvl="2">
              <a:lnSpc>
                <a:spcPct val="150000"/>
              </a:lnSpc>
              <a:buSzPct val="110911"/>
            </a:pPr>
            <a:endParaRPr lang="en-US" dirty="0">
              <a:latin typeface="HSBI Lausanne 300"/>
            </a:endParaRPr>
          </a:p>
          <a:p>
            <a:pPr lvl="3">
              <a:lnSpc>
                <a:spcPct val="150000"/>
              </a:lnSpc>
              <a:buSzPct val="110911"/>
            </a:pPr>
            <a:endParaRPr lang="en-US" dirty="0">
              <a:latin typeface="HSBI Lausanne 300"/>
            </a:endParaRPr>
          </a:p>
          <a:p>
            <a:pPr marL="1600200" lvl="3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b="0" i="0" dirty="0">
              <a:solidFill>
                <a:srgbClr val="05192D"/>
              </a:solidFill>
              <a:effectLst/>
              <a:latin typeface="HSBI Lausanne 300"/>
            </a:endParaRPr>
          </a:p>
          <a:p>
            <a:pPr marL="1600200" lvl="3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>
              <a:lnSpc>
                <a:spcPct val="150000"/>
              </a:lnSpc>
              <a:buSzPct val="110911"/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C6FB9189-1269-656F-1EC5-38BF3A52FAE9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5085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ADE70-DB72-E0CE-296E-93F8DBFF8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>
            <a:extLst>
              <a:ext uri="{FF2B5EF4-FFF2-40B4-BE49-F238E27FC236}">
                <a16:creationId xmlns:a16="http://schemas.microsoft.com/office/drawing/2014/main" id="{FFC40574-EE40-2040-D89A-F55312900C3C}"/>
              </a:ext>
            </a:extLst>
          </p:cNvPr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>
            <a:extLst>
              <a:ext uri="{FF2B5EF4-FFF2-40B4-BE49-F238E27FC236}">
                <a16:creationId xmlns:a16="http://schemas.microsoft.com/office/drawing/2014/main" id="{9C546510-F5DC-75AB-C92C-DA9BB5CB64F0}"/>
              </a:ext>
            </a:extLst>
          </p:cNvPr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cap="all" spc="15" dirty="0">
                <a:solidFill>
                  <a:schemeClr val="dk1"/>
                </a:solidFill>
                <a:latin typeface="HSBI Lausanne 300"/>
              </a:rPr>
              <a:t>Methods &amp; </a:t>
            </a:r>
            <a:r>
              <a:rPr lang="de-DE" sz="3000" cap="all" spc="15" dirty="0" err="1">
                <a:solidFill>
                  <a:schemeClr val="dk1"/>
                </a:solidFill>
                <a:latin typeface="HSBI Lausanne 300"/>
              </a:rPr>
              <a:t>implementations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>
            <a:extLst>
              <a:ext uri="{FF2B5EF4-FFF2-40B4-BE49-F238E27FC236}">
                <a16:creationId xmlns:a16="http://schemas.microsoft.com/office/drawing/2014/main" id="{010DA78F-4427-ED21-4D6B-F89869004528}"/>
              </a:ext>
            </a:extLst>
          </p:cNvPr>
          <p:cNvSpPr/>
          <p:nvPr/>
        </p:nvSpPr>
        <p:spPr>
          <a:xfrm>
            <a:off x="983160" y="1768438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RRT (Rapidly Exploring Random Tree)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Sampling-based path planning algorithm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GB" dirty="0">
                <a:latin typeface="HSBI Lausanne 300"/>
              </a:rPr>
              <a:t>Grows a random tree by sampling points in the space 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GB" dirty="0">
                <a:latin typeface="HSBI Lausanne 300"/>
              </a:rPr>
              <a:t>and connect them to the nearest existing node. 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dirty="0">
                <a:latin typeface="HSBI Lausanne 300"/>
              </a:rPr>
              <a:t>Efficiently explores large, high-dimensional, or obstacle-filled environments.</a:t>
            </a: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GB" dirty="0">
                <a:latin typeface="HSBI Lausanne 300"/>
              </a:rPr>
              <a:t>if a path exists, RRT will find it given enough time.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GB" dirty="0">
                <a:latin typeface="HSBI Lausanne 300"/>
              </a:rPr>
              <a:t>basic RRT does not ensure the shortest path</a:t>
            </a: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>
              <a:lnSpc>
                <a:spcPct val="150000"/>
              </a:lnSpc>
              <a:buSzPct val="110911"/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92E2B743-7F47-7EAB-274C-5D2B8E352419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1866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52C35-DF6F-8737-170D-0B393E317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>
            <a:extLst>
              <a:ext uri="{FF2B5EF4-FFF2-40B4-BE49-F238E27FC236}">
                <a16:creationId xmlns:a16="http://schemas.microsoft.com/office/drawing/2014/main" id="{D440E7A2-BC48-9040-89F0-6AD148BE26B7}"/>
              </a:ext>
            </a:extLst>
          </p:cNvPr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>
            <a:extLst>
              <a:ext uri="{FF2B5EF4-FFF2-40B4-BE49-F238E27FC236}">
                <a16:creationId xmlns:a16="http://schemas.microsoft.com/office/drawing/2014/main" id="{A1AEFE5B-0D8B-A1C0-6522-FDEDE64A0F10}"/>
              </a:ext>
            </a:extLst>
          </p:cNvPr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cap="all" spc="15" dirty="0">
                <a:solidFill>
                  <a:schemeClr val="dk1"/>
                </a:solidFill>
                <a:latin typeface="HSBI Lausanne 300"/>
              </a:rPr>
              <a:t>Methods &amp; </a:t>
            </a:r>
            <a:r>
              <a:rPr lang="de-DE" sz="3000" cap="all" spc="15" dirty="0" err="1">
                <a:solidFill>
                  <a:schemeClr val="dk1"/>
                </a:solidFill>
                <a:latin typeface="HSBI Lausanne 300"/>
              </a:rPr>
              <a:t>implementations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>
            <a:extLst>
              <a:ext uri="{FF2B5EF4-FFF2-40B4-BE49-F238E27FC236}">
                <a16:creationId xmlns:a16="http://schemas.microsoft.com/office/drawing/2014/main" id="{410F1E02-B508-DFBB-5C26-214E5C507B84}"/>
              </a:ext>
            </a:extLst>
          </p:cNvPr>
          <p:cNvSpPr/>
          <p:nvPr/>
        </p:nvSpPr>
        <p:spPr>
          <a:xfrm>
            <a:off x="983160" y="1768438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Workings of RRT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b="1" dirty="0">
                <a:latin typeface="HSBI Lausanne 300"/>
              </a:rPr>
              <a:t>Define the State Space: </a:t>
            </a:r>
            <a:r>
              <a:rPr lang="en-GB" dirty="0">
                <a:latin typeface="HSBI Lausanne 300"/>
              </a:rPr>
              <a:t>Represent the environment (e.g., SE2 for 2D with orientation).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GB" b="1" dirty="0">
                <a:latin typeface="HSBI Lausanne 300"/>
              </a:rPr>
              <a:t>Initialize the Tree</a:t>
            </a:r>
            <a:r>
              <a:rPr lang="en-GB" dirty="0">
                <a:latin typeface="HSBI Lausanne 300"/>
              </a:rPr>
              <a:t> – Start with the root node at the robot’s initial position.</a:t>
            </a:r>
            <a:r>
              <a:rPr lang="en-US" dirty="0">
                <a:latin typeface="HSBI Lausanne 300"/>
              </a:rPr>
              <a:t> </a:t>
            </a: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>
              <a:lnSpc>
                <a:spcPct val="150000"/>
              </a:lnSpc>
              <a:buSzPct val="110911"/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13FB2B2-A5EB-69F4-9342-21F726742F04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diagram of a star&#10;&#10;AI-generated content may be incorrect.">
            <a:extLst>
              <a:ext uri="{FF2B5EF4-FFF2-40B4-BE49-F238E27FC236}">
                <a16:creationId xmlns:a16="http://schemas.microsoft.com/office/drawing/2014/main" id="{D05CBD9E-F374-8450-A8CE-1AD6478F20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6778" y="3040142"/>
            <a:ext cx="5639605" cy="327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38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9056F-C959-BC7F-DEB8-264DC330D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>
            <a:extLst>
              <a:ext uri="{FF2B5EF4-FFF2-40B4-BE49-F238E27FC236}">
                <a16:creationId xmlns:a16="http://schemas.microsoft.com/office/drawing/2014/main" id="{A4D633B7-08A3-2863-77CF-FB2B2AA6D28A}"/>
              </a:ext>
            </a:extLst>
          </p:cNvPr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>
            <a:extLst>
              <a:ext uri="{FF2B5EF4-FFF2-40B4-BE49-F238E27FC236}">
                <a16:creationId xmlns:a16="http://schemas.microsoft.com/office/drawing/2014/main" id="{45BB8C9D-E5DD-1533-65D4-90FB5E754019}"/>
              </a:ext>
            </a:extLst>
          </p:cNvPr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cap="all" spc="15" dirty="0">
                <a:solidFill>
                  <a:schemeClr val="dk1"/>
                </a:solidFill>
                <a:latin typeface="HSBI Lausanne 300"/>
              </a:rPr>
              <a:t>Methods &amp; </a:t>
            </a:r>
            <a:r>
              <a:rPr lang="de-DE" sz="3000" cap="all" spc="15" dirty="0" err="1">
                <a:solidFill>
                  <a:schemeClr val="dk1"/>
                </a:solidFill>
                <a:latin typeface="HSBI Lausanne 300"/>
              </a:rPr>
              <a:t>implementations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>
            <a:extLst>
              <a:ext uri="{FF2B5EF4-FFF2-40B4-BE49-F238E27FC236}">
                <a16:creationId xmlns:a16="http://schemas.microsoft.com/office/drawing/2014/main" id="{48122C1B-4273-0B2E-2BA5-59BA3788CC4C}"/>
              </a:ext>
            </a:extLst>
          </p:cNvPr>
          <p:cNvSpPr/>
          <p:nvPr/>
        </p:nvSpPr>
        <p:spPr>
          <a:xfrm>
            <a:off x="983160" y="1768438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Workings of RRT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GB" b="1" dirty="0">
                <a:latin typeface="HSBI Lausanne 300"/>
              </a:rPr>
              <a:t>Random Sampling</a:t>
            </a:r>
            <a:r>
              <a:rPr lang="en-GB" dirty="0">
                <a:latin typeface="HSBI Lausanne 300"/>
              </a:rPr>
              <a:t> – Sample a random state </a:t>
            </a:r>
            <a:r>
              <a:rPr lang="en-GB" dirty="0" err="1">
                <a:latin typeface="HSBI Lausanne 300"/>
              </a:rPr>
              <a:t>Xrand</a:t>
            </a:r>
            <a:r>
              <a:rPr lang="en-GB" dirty="0">
                <a:latin typeface="HSBI Lausanne 300"/>
              </a:rPr>
              <a:t>​ within the state space.</a:t>
            </a:r>
            <a:r>
              <a:rPr lang="en-US" dirty="0">
                <a:latin typeface="HSBI Lausanne 300"/>
              </a:rPr>
              <a:t> </a:t>
            </a: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>
              <a:lnSpc>
                <a:spcPct val="150000"/>
              </a:lnSpc>
              <a:buSzPct val="110911"/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7A85467A-C726-4B45-7D25-537B85FD37AD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B48B588-818A-4D59-F6E7-27AFDF02F5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19467" y="2721873"/>
            <a:ext cx="5701049" cy="323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883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D8130-BB54-DF28-B404-2105B965F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>
            <a:extLst>
              <a:ext uri="{FF2B5EF4-FFF2-40B4-BE49-F238E27FC236}">
                <a16:creationId xmlns:a16="http://schemas.microsoft.com/office/drawing/2014/main" id="{5319499C-EE9C-4663-97D9-DB7D2F47D37A}"/>
              </a:ext>
            </a:extLst>
          </p:cNvPr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>
            <a:extLst>
              <a:ext uri="{FF2B5EF4-FFF2-40B4-BE49-F238E27FC236}">
                <a16:creationId xmlns:a16="http://schemas.microsoft.com/office/drawing/2014/main" id="{32D3102E-A293-0617-326D-67E1D958C4C4}"/>
              </a:ext>
            </a:extLst>
          </p:cNvPr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cap="all" spc="15" dirty="0">
                <a:solidFill>
                  <a:schemeClr val="dk1"/>
                </a:solidFill>
                <a:latin typeface="HSBI Lausanne 300"/>
              </a:rPr>
              <a:t>Methods &amp; </a:t>
            </a:r>
            <a:r>
              <a:rPr lang="de-DE" sz="3000" cap="all" spc="15" dirty="0" err="1">
                <a:solidFill>
                  <a:schemeClr val="dk1"/>
                </a:solidFill>
                <a:latin typeface="HSBI Lausanne 300"/>
              </a:rPr>
              <a:t>implementations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>
            <a:extLst>
              <a:ext uri="{FF2B5EF4-FFF2-40B4-BE49-F238E27FC236}">
                <a16:creationId xmlns:a16="http://schemas.microsoft.com/office/drawing/2014/main" id="{A4980961-AF2E-DBD3-961A-FFF4988CB1FA}"/>
              </a:ext>
            </a:extLst>
          </p:cNvPr>
          <p:cNvSpPr/>
          <p:nvPr/>
        </p:nvSpPr>
        <p:spPr>
          <a:xfrm>
            <a:off x="983160" y="1768438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Workings of RRT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b="1" dirty="0">
                <a:latin typeface="HSBI Lausanne 300"/>
              </a:rPr>
              <a:t>Find Nearest Node</a:t>
            </a:r>
            <a:r>
              <a:rPr lang="en-US" dirty="0">
                <a:latin typeface="HSBI Lausanne 300"/>
              </a:rPr>
              <a:t> – Identify the tree node </a:t>
            </a:r>
            <a:r>
              <a:rPr lang="en-US" dirty="0" err="1">
                <a:latin typeface="HSBI Lausanne 300"/>
              </a:rPr>
              <a:t>Xnear</a:t>
            </a:r>
            <a:r>
              <a:rPr lang="en-US" dirty="0">
                <a:latin typeface="HSBI Lausanne 300"/>
              </a:rPr>
              <a:t>​ closest to </a:t>
            </a:r>
            <a:r>
              <a:rPr lang="en-US" dirty="0" err="1">
                <a:latin typeface="HSBI Lausanne 300"/>
              </a:rPr>
              <a:t>Xrand</a:t>
            </a:r>
            <a:r>
              <a:rPr lang="en-US" dirty="0">
                <a:latin typeface="HSBI Lausanne 300"/>
              </a:rPr>
              <a:t>​. </a:t>
            </a: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>
              <a:lnSpc>
                <a:spcPct val="150000"/>
              </a:lnSpc>
              <a:buSzPct val="110911"/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C5E5366A-5AB2-9E86-34A2-0B964878111F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EA2682F-433D-2D70-849D-3D058E5546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19467" y="2735473"/>
            <a:ext cx="5701049" cy="320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345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E22A4-96B8-0D71-15E2-09E7A4A92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>
            <a:extLst>
              <a:ext uri="{FF2B5EF4-FFF2-40B4-BE49-F238E27FC236}">
                <a16:creationId xmlns:a16="http://schemas.microsoft.com/office/drawing/2014/main" id="{A6144B2E-8CC5-AFCA-B9CE-E2154AF0A1C7}"/>
              </a:ext>
            </a:extLst>
          </p:cNvPr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>
            <a:extLst>
              <a:ext uri="{FF2B5EF4-FFF2-40B4-BE49-F238E27FC236}">
                <a16:creationId xmlns:a16="http://schemas.microsoft.com/office/drawing/2014/main" id="{B1B091E3-1A0B-4BA3-4BD4-3A37A342B5BE}"/>
              </a:ext>
            </a:extLst>
          </p:cNvPr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cap="all" spc="15" dirty="0">
                <a:solidFill>
                  <a:schemeClr val="dk1"/>
                </a:solidFill>
                <a:latin typeface="HSBI Lausanne 300"/>
              </a:rPr>
              <a:t>Methods &amp; </a:t>
            </a:r>
            <a:r>
              <a:rPr lang="de-DE" sz="3000" cap="all" spc="15" dirty="0" err="1">
                <a:solidFill>
                  <a:schemeClr val="dk1"/>
                </a:solidFill>
                <a:latin typeface="HSBI Lausanne 300"/>
              </a:rPr>
              <a:t>implementations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>
            <a:extLst>
              <a:ext uri="{FF2B5EF4-FFF2-40B4-BE49-F238E27FC236}">
                <a16:creationId xmlns:a16="http://schemas.microsoft.com/office/drawing/2014/main" id="{94B7439B-BCE6-79EA-1903-66CDF73805D8}"/>
              </a:ext>
            </a:extLst>
          </p:cNvPr>
          <p:cNvSpPr/>
          <p:nvPr/>
        </p:nvSpPr>
        <p:spPr>
          <a:xfrm>
            <a:off x="983160" y="1768438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Workings of RRT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dirty="0">
                <a:latin typeface="HSBI Lausanne 300"/>
              </a:rPr>
              <a:t>​</a:t>
            </a:r>
            <a:r>
              <a:rPr lang="en-US" b="1" dirty="0">
                <a:latin typeface="HSBI Lausanne 300"/>
              </a:rPr>
              <a:t>Generate New Node</a:t>
            </a:r>
            <a:r>
              <a:rPr lang="en-US" dirty="0">
                <a:latin typeface="HSBI Lausanne 300"/>
              </a:rPr>
              <a:t> – Extend from </a:t>
            </a:r>
            <a:r>
              <a:rPr lang="en-US" dirty="0" err="1">
                <a:latin typeface="HSBI Lausanne 300"/>
              </a:rPr>
              <a:t>Xnear</a:t>
            </a:r>
            <a:r>
              <a:rPr lang="en-US" dirty="0">
                <a:latin typeface="HSBI Lausanne 300"/>
              </a:rPr>
              <a:t>​ toward </a:t>
            </a:r>
            <a:r>
              <a:rPr lang="en-US" dirty="0" err="1">
                <a:latin typeface="HSBI Lausanne 300"/>
              </a:rPr>
              <a:t>Xrand</a:t>
            </a:r>
            <a:r>
              <a:rPr lang="en-US" dirty="0">
                <a:latin typeface="HSBI Lausanne 300"/>
              </a:rPr>
              <a:t>​ to create </a:t>
            </a:r>
            <a:r>
              <a:rPr lang="en-US" dirty="0" err="1">
                <a:latin typeface="HSBI Lausanne 300"/>
              </a:rPr>
              <a:t>Xnew</a:t>
            </a:r>
            <a:r>
              <a:rPr lang="en-US" dirty="0">
                <a:latin typeface="HSBI Lausanne 300"/>
              </a:rPr>
              <a:t>​, using feasible motion models. </a:t>
            </a: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>
              <a:lnSpc>
                <a:spcPct val="150000"/>
              </a:lnSpc>
              <a:buSzPct val="110911"/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A066B112-D4AC-2F9B-A898-B38B5AB38FA1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0F64D209-AE48-9393-CADE-9AB0EDF35E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44474" y="2735473"/>
            <a:ext cx="5251034" cy="320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715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E730D-5707-BF51-7CB1-9C1B8D1C9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>
            <a:extLst>
              <a:ext uri="{FF2B5EF4-FFF2-40B4-BE49-F238E27FC236}">
                <a16:creationId xmlns:a16="http://schemas.microsoft.com/office/drawing/2014/main" id="{83B9DD9F-8157-E6C7-BDF6-A8ED04A66FDE}"/>
              </a:ext>
            </a:extLst>
          </p:cNvPr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>
            <a:extLst>
              <a:ext uri="{FF2B5EF4-FFF2-40B4-BE49-F238E27FC236}">
                <a16:creationId xmlns:a16="http://schemas.microsoft.com/office/drawing/2014/main" id="{ACCF54FF-880E-B42E-4047-3AE8EEF6F564}"/>
              </a:ext>
            </a:extLst>
          </p:cNvPr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cap="all" spc="15" dirty="0">
                <a:solidFill>
                  <a:schemeClr val="dk1"/>
                </a:solidFill>
                <a:latin typeface="HSBI Lausanne 300"/>
              </a:rPr>
              <a:t>Methods &amp; </a:t>
            </a:r>
            <a:r>
              <a:rPr lang="de-DE" sz="3000" cap="all" spc="15" dirty="0" err="1">
                <a:solidFill>
                  <a:schemeClr val="dk1"/>
                </a:solidFill>
                <a:latin typeface="HSBI Lausanne 300"/>
              </a:rPr>
              <a:t>implementations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>
            <a:extLst>
              <a:ext uri="{FF2B5EF4-FFF2-40B4-BE49-F238E27FC236}">
                <a16:creationId xmlns:a16="http://schemas.microsoft.com/office/drawing/2014/main" id="{179A09B8-E52F-D0D5-365B-7DD49AA5E55E}"/>
              </a:ext>
            </a:extLst>
          </p:cNvPr>
          <p:cNvSpPr/>
          <p:nvPr/>
        </p:nvSpPr>
        <p:spPr>
          <a:xfrm>
            <a:off x="983160" y="1768438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Workings of RRT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dirty="0">
                <a:latin typeface="HSBI Lausanne 300"/>
              </a:rPr>
              <a:t>​</a:t>
            </a:r>
            <a:r>
              <a:rPr lang="en-GB" b="1" dirty="0">
                <a:latin typeface="HSBI Lausanne 300"/>
              </a:rPr>
              <a:t>Collision Checking</a:t>
            </a:r>
            <a:r>
              <a:rPr lang="en-GB" dirty="0">
                <a:latin typeface="HSBI Lausanne 300"/>
              </a:rPr>
              <a:t> – Validate that the motion from </a:t>
            </a:r>
            <a:r>
              <a:rPr lang="en-GB" dirty="0" err="1">
                <a:latin typeface="HSBI Lausanne 300"/>
              </a:rPr>
              <a:t>Xnear</a:t>
            </a:r>
            <a:r>
              <a:rPr lang="en-GB" dirty="0">
                <a:latin typeface="HSBI Lausanne 300"/>
              </a:rPr>
              <a:t>​ to </a:t>
            </a:r>
            <a:r>
              <a:rPr lang="en-GB" dirty="0" err="1">
                <a:latin typeface="HSBI Lausanne 300"/>
              </a:rPr>
              <a:t>Xnew</a:t>
            </a:r>
            <a:r>
              <a:rPr lang="en-GB" dirty="0">
                <a:latin typeface="HSBI Lausanne 300"/>
              </a:rPr>
              <a:t>​ is collision-free.</a:t>
            </a: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>
              <a:lnSpc>
                <a:spcPct val="150000"/>
              </a:lnSpc>
              <a:buSzPct val="110911"/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93F94FB2-3C77-169E-BA6A-16A0B1095457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9A5D72E-D506-8E1B-BBFC-95A1D6DAC4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44474" y="2735473"/>
            <a:ext cx="5251034" cy="320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458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41268-64A9-A6CC-B2EE-297884F96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>
            <a:extLst>
              <a:ext uri="{FF2B5EF4-FFF2-40B4-BE49-F238E27FC236}">
                <a16:creationId xmlns:a16="http://schemas.microsoft.com/office/drawing/2014/main" id="{58EE94E3-6977-1188-6A8D-F20157459DD4}"/>
              </a:ext>
            </a:extLst>
          </p:cNvPr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>
            <a:extLst>
              <a:ext uri="{FF2B5EF4-FFF2-40B4-BE49-F238E27FC236}">
                <a16:creationId xmlns:a16="http://schemas.microsoft.com/office/drawing/2014/main" id="{0BFDCF5A-03F9-E300-8F4F-FC5BCFAFD2B0}"/>
              </a:ext>
            </a:extLst>
          </p:cNvPr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cap="all" spc="15" dirty="0">
                <a:solidFill>
                  <a:schemeClr val="dk1"/>
                </a:solidFill>
                <a:latin typeface="HSBI Lausanne 300"/>
              </a:rPr>
              <a:t>Methods &amp; </a:t>
            </a:r>
            <a:r>
              <a:rPr lang="de-DE" sz="3000" cap="all" spc="15" dirty="0" err="1">
                <a:solidFill>
                  <a:schemeClr val="dk1"/>
                </a:solidFill>
                <a:latin typeface="HSBI Lausanne 300"/>
              </a:rPr>
              <a:t>implementations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>
            <a:extLst>
              <a:ext uri="{FF2B5EF4-FFF2-40B4-BE49-F238E27FC236}">
                <a16:creationId xmlns:a16="http://schemas.microsoft.com/office/drawing/2014/main" id="{C63C2CF9-DD15-134B-72F2-5E93C3718B89}"/>
              </a:ext>
            </a:extLst>
          </p:cNvPr>
          <p:cNvSpPr/>
          <p:nvPr/>
        </p:nvSpPr>
        <p:spPr>
          <a:xfrm>
            <a:off x="983160" y="1768438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Workings of RRT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dirty="0">
                <a:latin typeface="HSBI Lausanne 300"/>
              </a:rPr>
              <a:t>​</a:t>
            </a:r>
            <a:r>
              <a:rPr lang="en-GB" dirty="0">
                <a:latin typeface="HSBI Lausanne 300"/>
              </a:rPr>
              <a:t>​ </a:t>
            </a:r>
            <a:r>
              <a:rPr lang="en-GB" b="1" dirty="0">
                <a:latin typeface="HSBI Lausanne 300"/>
              </a:rPr>
              <a:t>Add Node to Tree</a:t>
            </a:r>
            <a:r>
              <a:rPr lang="en-GB" dirty="0">
                <a:latin typeface="HSBI Lausanne 300"/>
              </a:rPr>
              <a:t> – If valid, add </a:t>
            </a:r>
            <a:r>
              <a:rPr lang="en-GB" dirty="0" err="1">
                <a:latin typeface="HSBI Lausanne 300"/>
              </a:rPr>
              <a:t>Xnew</a:t>
            </a:r>
            <a:r>
              <a:rPr lang="en-GB" dirty="0">
                <a:latin typeface="HSBI Lausanne 300"/>
              </a:rPr>
              <a:t>​ and connect it to </a:t>
            </a:r>
            <a:r>
              <a:rPr lang="en-GB" dirty="0" err="1">
                <a:latin typeface="HSBI Lausanne 300"/>
              </a:rPr>
              <a:t>Xnear</a:t>
            </a:r>
            <a:r>
              <a:rPr lang="en-GB" dirty="0">
                <a:latin typeface="HSBI Lausanne 300"/>
              </a:rPr>
              <a:t>.</a:t>
            </a: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>
              <a:lnSpc>
                <a:spcPct val="150000"/>
              </a:lnSpc>
              <a:buSzPct val="110911"/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69292716-5545-54FA-B9F9-EE9F06CC478D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2F48CFFF-F510-20EC-3157-AB91E5DA98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44474" y="2735473"/>
            <a:ext cx="5251034" cy="320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38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76285-FAE9-0EB5-AADF-F273B8AE6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>
            <a:extLst>
              <a:ext uri="{FF2B5EF4-FFF2-40B4-BE49-F238E27FC236}">
                <a16:creationId xmlns:a16="http://schemas.microsoft.com/office/drawing/2014/main" id="{0759309D-95F0-249B-A990-C86D1467CDA8}"/>
              </a:ext>
            </a:extLst>
          </p:cNvPr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>
            <a:extLst>
              <a:ext uri="{FF2B5EF4-FFF2-40B4-BE49-F238E27FC236}">
                <a16:creationId xmlns:a16="http://schemas.microsoft.com/office/drawing/2014/main" id="{74927A0B-274D-8522-187B-311F0125BDB9}"/>
              </a:ext>
            </a:extLst>
          </p:cNvPr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cap="all" spc="15" dirty="0">
                <a:solidFill>
                  <a:schemeClr val="dk1"/>
                </a:solidFill>
                <a:latin typeface="HSBI Lausanne 300"/>
              </a:rPr>
              <a:t>Methods &amp; </a:t>
            </a:r>
            <a:r>
              <a:rPr lang="de-DE" sz="3000" cap="all" spc="15" dirty="0" err="1">
                <a:solidFill>
                  <a:schemeClr val="dk1"/>
                </a:solidFill>
                <a:latin typeface="HSBI Lausanne 300"/>
              </a:rPr>
              <a:t>implementations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>
            <a:extLst>
              <a:ext uri="{FF2B5EF4-FFF2-40B4-BE49-F238E27FC236}">
                <a16:creationId xmlns:a16="http://schemas.microsoft.com/office/drawing/2014/main" id="{B54EF4E8-7847-3118-3E04-A3F1E7AB6DAC}"/>
              </a:ext>
            </a:extLst>
          </p:cNvPr>
          <p:cNvSpPr/>
          <p:nvPr/>
        </p:nvSpPr>
        <p:spPr>
          <a:xfrm>
            <a:off x="983160" y="1768438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Workings of RRT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dirty="0">
                <a:latin typeface="HSBI Lausanne 300"/>
              </a:rPr>
              <a:t>​</a:t>
            </a:r>
            <a:r>
              <a:rPr lang="en-GB" dirty="0">
                <a:latin typeface="HSBI Lausanne 300"/>
              </a:rPr>
              <a:t>​ </a:t>
            </a:r>
            <a:r>
              <a:rPr lang="en-GB" b="1" dirty="0">
                <a:latin typeface="HSBI Lausanne 300"/>
              </a:rPr>
              <a:t>Iterate</a:t>
            </a:r>
            <a:r>
              <a:rPr lang="en-GB" dirty="0">
                <a:latin typeface="HSBI Lausanne 300"/>
              </a:rPr>
              <a:t> – Repeat steps 3–7 until the goal is reached or a stopping condition is met.</a:t>
            </a: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>
              <a:lnSpc>
                <a:spcPct val="150000"/>
              </a:lnSpc>
              <a:buSzPct val="110911"/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5A7F6963-4667-F281-B336-0F79487E156C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3E76F70-4D5D-3E58-39EE-906FB77A64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44474" y="2816932"/>
            <a:ext cx="5251034" cy="3042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116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F43B8-5BA6-5641-4CD5-1BABB5C65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>
            <a:extLst>
              <a:ext uri="{FF2B5EF4-FFF2-40B4-BE49-F238E27FC236}">
                <a16:creationId xmlns:a16="http://schemas.microsoft.com/office/drawing/2014/main" id="{AC00D30F-74BD-039A-D7BB-861BE026A46D}"/>
              </a:ext>
            </a:extLst>
          </p:cNvPr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>
            <a:extLst>
              <a:ext uri="{FF2B5EF4-FFF2-40B4-BE49-F238E27FC236}">
                <a16:creationId xmlns:a16="http://schemas.microsoft.com/office/drawing/2014/main" id="{62A2BA4A-CA2C-07E6-41D7-EFA438B62E46}"/>
              </a:ext>
            </a:extLst>
          </p:cNvPr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cap="all" spc="15" dirty="0">
                <a:solidFill>
                  <a:schemeClr val="dk1"/>
                </a:solidFill>
                <a:latin typeface="HSBI Lausanne 300"/>
              </a:rPr>
              <a:t>Methods &amp; </a:t>
            </a:r>
            <a:r>
              <a:rPr lang="de-DE" sz="3000" cap="all" spc="15" dirty="0" err="1">
                <a:solidFill>
                  <a:schemeClr val="dk1"/>
                </a:solidFill>
                <a:latin typeface="HSBI Lausanne 300"/>
              </a:rPr>
              <a:t>implementations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>
            <a:extLst>
              <a:ext uri="{FF2B5EF4-FFF2-40B4-BE49-F238E27FC236}">
                <a16:creationId xmlns:a16="http://schemas.microsoft.com/office/drawing/2014/main" id="{14ED0624-EBBB-2F84-CE59-13E7E2D636AA}"/>
              </a:ext>
            </a:extLst>
          </p:cNvPr>
          <p:cNvSpPr/>
          <p:nvPr/>
        </p:nvSpPr>
        <p:spPr>
          <a:xfrm>
            <a:off x="983160" y="1768438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Workings of RRT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dirty="0">
                <a:latin typeface="HSBI Lausanne 300"/>
              </a:rPr>
              <a:t>​</a:t>
            </a:r>
            <a:r>
              <a:rPr lang="en-GB" dirty="0">
                <a:latin typeface="HSBI Lausanne 300"/>
              </a:rPr>
              <a:t>​ </a:t>
            </a:r>
            <a:r>
              <a:rPr lang="en-GB" b="1" dirty="0">
                <a:latin typeface="HSBI Lausanne 300"/>
              </a:rPr>
              <a:t>Path Extraction</a:t>
            </a:r>
            <a:r>
              <a:rPr lang="en-GB" dirty="0">
                <a:latin typeface="HSBI Lausanne 300"/>
              </a:rPr>
              <a:t> – Trace back through parent nodes to extract the path.</a:t>
            </a: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>
              <a:lnSpc>
                <a:spcPct val="150000"/>
              </a:lnSpc>
              <a:buSzPct val="110911"/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736109FF-AE0D-6BC8-CCB5-FC7B5B9CAA41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2AA7FB33-F9F5-CB57-F7D0-F5251A2C8E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44474" y="2857448"/>
            <a:ext cx="5251034" cy="296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26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B2E2B-7C16-E3F5-FB97-157056518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>
            <a:extLst>
              <a:ext uri="{FF2B5EF4-FFF2-40B4-BE49-F238E27FC236}">
                <a16:creationId xmlns:a16="http://schemas.microsoft.com/office/drawing/2014/main" id="{426E4582-A77E-02C2-E943-8ADC1A646A83}"/>
              </a:ext>
            </a:extLst>
          </p:cNvPr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>
            <a:extLst>
              <a:ext uri="{FF2B5EF4-FFF2-40B4-BE49-F238E27FC236}">
                <a16:creationId xmlns:a16="http://schemas.microsoft.com/office/drawing/2014/main" id="{B453D2B9-A627-044C-4656-35FFB40393CE}"/>
              </a:ext>
            </a:extLst>
          </p:cNvPr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cap="all" spc="15" dirty="0">
                <a:solidFill>
                  <a:schemeClr val="dk1"/>
                </a:solidFill>
                <a:latin typeface="HSBI Lausanne 300"/>
              </a:rPr>
              <a:t>Methods &amp; </a:t>
            </a:r>
            <a:r>
              <a:rPr lang="de-DE" sz="3000" cap="all" spc="15" dirty="0" err="1">
                <a:solidFill>
                  <a:schemeClr val="dk1"/>
                </a:solidFill>
                <a:latin typeface="HSBI Lausanne 300"/>
              </a:rPr>
              <a:t>implementations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>
            <a:extLst>
              <a:ext uri="{FF2B5EF4-FFF2-40B4-BE49-F238E27FC236}">
                <a16:creationId xmlns:a16="http://schemas.microsoft.com/office/drawing/2014/main" id="{572147D8-18E5-8723-1554-D9E6E4E5E02B}"/>
              </a:ext>
            </a:extLst>
          </p:cNvPr>
          <p:cNvSpPr/>
          <p:nvPr/>
        </p:nvSpPr>
        <p:spPr>
          <a:xfrm>
            <a:off x="983160" y="1768438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RRT*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dirty="0">
                <a:latin typeface="HSBI Lausanne 300"/>
              </a:rPr>
              <a:t>​</a:t>
            </a:r>
            <a:r>
              <a:rPr lang="en-GB" dirty="0">
                <a:latin typeface="HSBI Lausanne 300"/>
              </a:rPr>
              <a:t>​ It expands the tree in a similar way like RRT.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GB" spc="-1" dirty="0">
                <a:solidFill>
                  <a:srgbClr val="000000"/>
                </a:solidFill>
                <a:latin typeface="HSBI Lausanne 300"/>
              </a:rPr>
              <a:t>But it rewires the tree in a way, that a given search radius and always tries to find shorter path from the randomly sampled node back to the start in the tree.</a:t>
            </a: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>
              <a:lnSpc>
                <a:spcPct val="150000"/>
              </a:lnSpc>
              <a:buSzPct val="110911"/>
            </a:pPr>
            <a:endParaRPr lang="en-US" spc="-1" dirty="0">
              <a:solidFill>
                <a:srgbClr val="000000"/>
              </a:solidFill>
              <a:latin typeface="HSBI Lausanne 300"/>
            </a:endParaRP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EF77A399-5D0F-F023-31B7-9752386D1BB6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diagram of a diagram of a star&#10;&#10;AI-generated content may be incorrect.">
            <a:extLst>
              <a:ext uri="{FF2B5EF4-FFF2-40B4-BE49-F238E27FC236}">
                <a16:creationId xmlns:a16="http://schemas.microsoft.com/office/drawing/2014/main" id="{9CA589EA-3594-608B-6028-416970A180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7359" y="3428999"/>
            <a:ext cx="5265336" cy="296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296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/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/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b="0" strike="noStrike" cap="all" spc="15" dirty="0" err="1">
                <a:solidFill>
                  <a:schemeClr val="dk1"/>
                </a:solidFill>
                <a:latin typeface="HSBI Lausanne 300"/>
              </a:rPr>
              <a:t>results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/>
          <p:cNvSpPr/>
          <p:nvPr/>
        </p:nvSpPr>
        <p:spPr>
          <a:xfrm>
            <a:off x="983160" y="1844640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150000"/>
              </a:lnSpc>
              <a:buSzPct val="110911"/>
              <a:buBlip>
                <a:blip r:embed="rId5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Generated Map of IOT Factory</a:t>
            </a:r>
          </a:p>
          <a:p>
            <a:pPr>
              <a:lnSpc>
                <a:spcPct val="150000"/>
              </a:lnSpc>
              <a:buSzPct val="110911"/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9222E8DA-FD92-D07B-68CE-7619EB2F65BE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 descr="Ein Bild, das Entwurf, Zeichnung, Grafiken, Design enthält.&#10;&#10;KI-generierte Inhalte können fehlerhaft sein.">
            <a:extLst>
              <a:ext uri="{FF2B5EF4-FFF2-40B4-BE49-F238E27FC236}">
                <a16:creationId xmlns:a16="http://schemas.microsoft.com/office/drawing/2014/main" id="{E421EC6C-3DFF-551B-F7BF-C9076312B6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160" y="2373084"/>
            <a:ext cx="4583036" cy="3701683"/>
          </a:xfrm>
          <a:prstGeom prst="rect">
            <a:avLst/>
          </a:prstGeom>
        </p:spPr>
      </p:pic>
      <p:pic>
        <p:nvPicPr>
          <p:cNvPr id="6" name="Video 4">
            <a:hlinkClick r:id="" action="ppaction://media"/>
            <a:extLst>
              <a:ext uri="{FF2B5EF4-FFF2-40B4-BE49-F238E27FC236}">
                <a16:creationId xmlns:a16="http://schemas.microsoft.com/office/drawing/2014/main" id="{BCD9E77F-1BFD-DAC3-164E-0C6F565E6D7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842054" y="2667537"/>
            <a:ext cx="6057298" cy="340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534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33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/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/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b="0" strike="noStrike" cap="all" spc="15" dirty="0" err="1">
                <a:solidFill>
                  <a:schemeClr val="dk1"/>
                </a:solidFill>
                <a:latin typeface="HSBI Lausanne 300"/>
              </a:rPr>
              <a:t>results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/>
          <p:cNvSpPr/>
          <p:nvPr/>
        </p:nvSpPr>
        <p:spPr>
          <a:xfrm>
            <a:off x="983160" y="1844640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Generated Map of Warehouse</a:t>
            </a:r>
          </a:p>
          <a:p>
            <a:pPr>
              <a:lnSpc>
                <a:spcPct val="150000"/>
              </a:lnSpc>
              <a:buSzPct val="110911"/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9222E8DA-FD92-D07B-68CE-7619EB2F65BE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E421EC6C-3DFF-551B-F7BF-C9076312B6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3159" y="2406302"/>
            <a:ext cx="4741685" cy="3670981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1DA42FA-594B-0E76-A648-1B6D343BDD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6879" y="2321555"/>
            <a:ext cx="4951961" cy="378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140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/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/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b="0" strike="noStrike" cap="all" spc="15" dirty="0" err="1">
                <a:solidFill>
                  <a:schemeClr val="dk1"/>
                </a:solidFill>
                <a:latin typeface="HSBI Lausanne 300"/>
              </a:rPr>
              <a:t>results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/>
          <p:cNvSpPr/>
          <p:nvPr/>
        </p:nvSpPr>
        <p:spPr>
          <a:xfrm>
            <a:off x="983160" y="1844640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Path Generated by RRT*</a:t>
            </a:r>
          </a:p>
          <a:p>
            <a:pPr>
              <a:lnSpc>
                <a:spcPct val="150000"/>
              </a:lnSpc>
              <a:buSzPct val="110911"/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9222E8DA-FD92-D07B-68CE-7619EB2F65BE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 descr="Ein Bild, das Text, Diagramm, Plan, Screenshot enthält.&#10;&#10;KI-generierte Inhalte können fehlerhaft sein.">
            <a:extLst>
              <a:ext uri="{FF2B5EF4-FFF2-40B4-BE49-F238E27FC236}">
                <a16:creationId xmlns:a16="http://schemas.microsoft.com/office/drawing/2014/main" id="{ED748232-78D7-36D2-9801-ECD10D9AFD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160" y="2463842"/>
            <a:ext cx="5885726" cy="366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697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/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/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b="0" strike="noStrike" cap="all" spc="15" dirty="0" err="1">
                <a:solidFill>
                  <a:schemeClr val="dk1"/>
                </a:solidFill>
                <a:latin typeface="HSBI Lausanne 300"/>
              </a:rPr>
              <a:t>results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/>
          <p:cNvSpPr/>
          <p:nvPr/>
        </p:nvSpPr>
        <p:spPr>
          <a:xfrm>
            <a:off x="983160" y="1844640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Path Generated by A*</a:t>
            </a:r>
          </a:p>
          <a:p>
            <a:pPr>
              <a:lnSpc>
                <a:spcPct val="150000"/>
              </a:lnSpc>
              <a:buSzPct val="110911"/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9222E8DA-FD92-D07B-68CE-7619EB2F65BE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 descr="Ein Bild, das Text, Diagramm, Plan, Screenshot enthält.&#10;&#10;KI-generierte Inhalte können fehlerhaft sein.">
            <a:extLst>
              <a:ext uri="{FF2B5EF4-FFF2-40B4-BE49-F238E27FC236}">
                <a16:creationId xmlns:a16="http://schemas.microsoft.com/office/drawing/2014/main" id="{0E524CDF-34B2-62A7-998E-3C061BF49D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051" y="2452955"/>
            <a:ext cx="5935533" cy="3730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723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feld 1"/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Titel 2"/>
          <p:cNvSpPr/>
          <p:nvPr/>
        </p:nvSpPr>
        <p:spPr>
          <a:xfrm>
            <a:off x="983160" y="1252800"/>
            <a:ext cx="99716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90000"/>
              </a:lnSpc>
            </a:pPr>
            <a:r>
              <a:rPr lang="de-DE" sz="3000" b="0" strike="noStrike" cap="all" spc="15" dirty="0">
                <a:solidFill>
                  <a:schemeClr val="dk1"/>
                </a:solidFill>
                <a:latin typeface="HSBI Lausanne 300"/>
              </a:rPr>
              <a:t>Critical </a:t>
            </a:r>
            <a:r>
              <a:rPr lang="de-DE" sz="3000" b="0" strike="noStrike" cap="all" spc="15" dirty="0" err="1">
                <a:solidFill>
                  <a:schemeClr val="dk1"/>
                </a:solidFill>
                <a:latin typeface="HSBI Lausanne 300"/>
              </a:rPr>
              <a:t>reflection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Inhaltsplatzhalter 1"/>
          <p:cNvSpPr/>
          <p:nvPr/>
        </p:nvSpPr>
        <p:spPr>
          <a:xfrm>
            <a:off x="983160" y="1844640"/>
            <a:ext cx="9971640" cy="44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28600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trike="noStrike" spc="-1" dirty="0">
                <a:solidFill>
                  <a:srgbClr val="000000"/>
                </a:solidFill>
                <a:latin typeface="HSBI Lausanne 300"/>
              </a:rPr>
              <a:t>Points</a:t>
            </a:r>
          </a:p>
          <a:p>
            <a:pPr marL="685800" lvl="1" indent="-228600">
              <a:lnSpc>
                <a:spcPct val="150000"/>
              </a:lnSpc>
              <a:buSzPct val="110911"/>
              <a:buBlip>
                <a:blip r:embed="rId3"/>
              </a:buBlip>
            </a:pPr>
            <a:r>
              <a:rPr lang="en-US" spc="-1" dirty="0">
                <a:solidFill>
                  <a:srgbClr val="000000"/>
                </a:solidFill>
                <a:latin typeface="HSBI Lausanne 300"/>
              </a:rPr>
              <a:t>subpoint</a:t>
            </a: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trike="noStrike" spc="-1" dirty="0">
              <a:solidFill>
                <a:srgbClr val="000000"/>
              </a:solidFill>
              <a:latin typeface="HSBI Lausanne 300"/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9222E8DA-FD92-D07B-68CE-7619EB2F65BE}"/>
              </a:ext>
            </a:extLst>
          </p:cNvPr>
          <p:cNvCxnSpPr/>
          <p:nvPr/>
        </p:nvCxnSpPr>
        <p:spPr>
          <a:xfrm>
            <a:off x="-337457" y="2775857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023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feld 12"/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8" name="Grafik 57"/>
          <p:cNvPicPr/>
          <p:nvPr/>
        </p:nvPicPr>
        <p:blipFill>
          <a:blip r:embed="rId3"/>
          <a:stretch/>
        </p:blipFill>
        <p:spPr>
          <a:xfrm>
            <a:off x="1846800" y="1117800"/>
            <a:ext cx="8055000" cy="4536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 xmlns:p15="http://schemas.microsoft.com/office/powerpoint/2012/main">
      <p:transition spd="slow" advTm="2000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feld 13"/>
          <p:cNvSpPr/>
          <p:nvPr/>
        </p:nvSpPr>
        <p:spPr>
          <a:xfrm>
            <a:off x="659880" y="6315480"/>
            <a:ext cx="609336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de-DE" sz="900" spc="-1" dirty="0" err="1">
                <a:solidFill>
                  <a:schemeClr val="dk1"/>
                </a:solidFill>
                <a:latin typeface="Times New Roman"/>
                <a:ea typeface="DejaVu Sans"/>
              </a:rPr>
              <a:t>Robotino</a:t>
            </a:r>
            <a:r>
              <a:rPr lang="de-DE" sz="900" spc="-1" dirty="0">
                <a:solidFill>
                  <a:schemeClr val="dk1"/>
                </a:solidFill>
                <a:latin typeface="Times New Roman"/>
                <a:ea typeface="DejaVu Sans"/>
              </a:rPr>
              <a:t> Project</a:t>
            </a:r>
            <a:r>
              <a:rPr lang="de-DE" sz="900" b="0" strike="noStrike" spc="-1" dirty="0">
                <a:solidFill>
                  <a:schemeClr val="dk1"/>
                </a:solidFill>
                <a:latin typeface="Times New Roman"/>
                <a:ea typeface="DejaVu Sans"/>
              </a:rPr>
              <a:t> | Hochschule Bielefeld | 19.09.2025 | Page 2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0" name="Grafik 59"/>
          <p:cNvPicPr/>
          <p:nvPr/>
        </p:nvPicPr>
        <p:blipFill>
          <a:blip r:embed="rId3"/>
          <a:stretch/>
        </p:blipFill>
        <p:spPr>
          <a:xfrm>
            <a:off x="4084560" y="1062000"/>
            <a:ext cx="3971520" cy="4733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 xmlns:p15="http://schemas.microsoft.com/office/powerpoint/2012/main">
      <p:transition spd="slow" advTm="20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7F7F7F"/>
      </a:dk2>
      <a:lt2>
        <a:srgbClr val="F2F2F2"/>
      </a:lt2>
      <a:accent1>
        <a:srgbClr val="78232D"/>
      </a:accent1>
      <a:accent2>
        <a:srgbClr val="C8A591"/>
      </a:accent2>
      <a:accent3>
        <a:srgbClr val="D7D2C3"/>
      </a:accent3>
      <a:accent4>
        <a:srgbClr val="9BAF87"/>
      </a:accent4>
      <a:accent5>
        <a:srgbClr val="C8C8C8"/>
      </a:accent5>
      <a:accent6>
        <a:srgbClr val="6EAFC8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7F7F7F"/>
      </a:dk2>
      <a:lt2>
        <a:srgbClr val="F2F2F2"/>
      </a:lt2>
      <a:accent1>
        <a:srgbClr val="78232D"/>
      </a:accent1>
      <a:accent2>
        <a:srgbClr val="C8A591"/>
      </a:accent2>
      <a:accent3>
        <a:srgbClr val="D7D2C3"/>
      </a:accent3>
      <a:accent4>
        <a:srgbClr val="9BAF87"/>
      </a:accent4>
      <a:accent5>
        <a:srgbClr val="C8C8C8"/>
      </a:accent5>
      <a:accent6>
        <a:srgbClr val="6EAFC8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7F7F7F"/>
      </a:dk2>
      <a:lt2>
        <a:srgbClr val="F2F2F2"/>
      </a:lt2>
      <a:accent1>
        <a:srgbClr val="78232D"/>
      </a:accent1>
      <a:accent2>
        <a:srgbClr val="C8A591"/>
      </a:accent2>
      <a:accent3>
        <a:srgbClr val="D7D2C3"/>
      </a:accent3>
      <a:accent4>
        <a:srgbClr val="9BAF87"/>
      </a:accent4>
      <a:accent5>
        <a:srgbClr val="C8C8C8"/>
      </a:accent5>
      <a:accent6>
        <a:srgbClr val="6EAFC8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1861</Words>
  <Application>Microsoft Office PowerPoint</Application>
  <PresentationFormat>Breitbild</PresentationFormat>
  <Paragraphs>391</Paragraphs>
  <Slides>41</Slides>
  <Notes>41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41</vt:i4>
      </vt:variant>
    </vt:vector>
  </HeadingPairs>
  <TitlesOfParts>
    <vt:vector size="50" baseType="lpstr">
      <vt:lpstr>-apple-system</vt:lpstr>
      <vt:lpstr>Arial</vt:lpstr>
      <vt:lpstr>HSBI Lausanne 300</vt:lpstr>
      <vt:lpstr>Symbol</vt:lpstr>
      <vt:lpstr>Times New Roman</vt:lpstr>
      <vt:lpstr>Wingdings</vt:lpstr>
      <vt:lpstr>Office Theme</vt:lpstr>
      <vt:lpstr>Office Theme</vt:lpstr>
      <vt:lpstr>Office Theme</vt:lpstr>
      <vt:lpstr>ROBOTINO PROJECT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Fachhochschule Bielefeld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Präsentation  in zwei Zeilen</dc:title>
  <dc:subject/>
  <dc:creator>Qazi Arbab Ahmed</dc:creator>
  <dc:description/>
  <cp:lastModifiedBy>Karki, Suraj</cp:lastModifiedBy>
  <cp:revision>1479</cp:revision>
  <dcterms:created xsi:type="dcterms:W3CDTF">2022-09-29T08:30:07Z</dcterms:created>
  <dcterms:modified xsi:type="dcterms:W3CDTF">2025-09-11T17:02:15Z</dcterms:modified>
  <dc:language>de-DE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r8>1</vt:r8>
  </property>
  <property fmtid="{D5CDD505-2E9C-101B-9397-08002B2CF9AE}" pid="3" name="Notes">
    <vt:r8>7</vt:r8>
  </property>
  <property fmtid="{D5CDD505-2E9C-101B-9397-08002B2CF9AE}" pid="4" name="PresentationFormat">
    <vt:lpwstr>Widescreen</vt:lpwstr>
  </property>
  <property fmtid="{D5CDD505-2E9C-101B-9397-08002B2CF9AE}" pid="5" name="Slides">
    <vt:r8>7</vt:r8>
  </property>
</Properties>
</file>