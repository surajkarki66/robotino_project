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51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41" r:id="rId14"/>
    <p:sldId id="335" r:id="rId15"/>
    <p:sldId id="343" r:id="rId16"/>
    <p:sldId id="342" r:id="rId17"/>
    <p:sldId id="344" r:id="rId18"/>
    <p:sldId id="345" r:id="rId19"/>
    <p:sldId id="357" r:id="rId20"/>
    <p:sldId id="346" r:id="rId21"/>
    <p:sldId id="358" r:id="rId22"/>
    <p:sldId id="359" r:id="rId23"/>
    <p:sldId id="360" r:id="rId24"/>
    <p:sldId id="347" r:id="rId25"/>
    <p:sldId id="349" r:id="rId26"/>
    <p:sldId id="348" r:id="rId27"/>
    <p:sldId id="350" r:id="rId28"/>
    <p:sldId id="351" r:id="rId29"/>
    <p:sldId id="352" r:id="rId30"/>
    <p:sldId id="353" r:id="rId31"/>
    <p:sldId id="354" r:id="rId32"/>
    <p:sldId id="355" r:id="rId33"/>
    <p:sldId id="356" r:id="rId34"/>
    <p:sldId id="364" r:id="rId35"/>
    <p:sldId id="329" r:id="rId36"/>
    <p:sldId id="369" r:id="rId37"/>
    <p:sldId id="367" r:id="rId38"/>
    <p:sldId id="368" r:id="rId39"/>
    <p:sldId id="373" r:id="rId40"/>
    <p:sldId id="363" r:id="rId41"/>
    <p:sldId id="362" r:id="rId42"/>
    <p:sldId id="361" r:id="rId43"/>
    <p:sldId id="371" r:id="rId44"/>
    <p:sldId id="331" r:id="rId45"/>
    <p:sldId id="365" r:id="rId46"/>
    <p:sldId id="372" r:id="rId47"/>
    <p:sldId id="366" r:id="rId48"/>
    <p:sldId id="266" r:id="rId49"/>
    <p:sldId id="267" r:id="rId5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9" autoAdjust="0"/>
    <p:restoredTop sz="94660"/>
  </p:normalViewPr>
  <p:slideViewPr>
    <p:cSldViewPr snapToGrid="0">
      <p:cViewPr varScale="1">
        <p:scale>
          <a:sx n="59" d="100"/>
          <a:sy n="59" d="100"/>
        </p:scale>
        <p:origin x="6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846422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978246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65732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561792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379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76653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5722041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880798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7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487308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 dirty="0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817669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163078"/>
            <a:ext cx="60933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M.Sc. Philip Maurice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Scheidig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B.Sc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 Roman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Sliwinski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Currently, generation of path network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is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Changing paths for new factory layouts takes a lot of </a:t>
            </a:r>
            <a:r>
              <a:rPr lang="en-US" b="1" dirty="0">
                <a:latin typeface="HSBI Lausanne 300"/>
              </a:rPr>
              <a:t>time</a:t>
            </a:r>
            <a:r>
              <a:rPr lang="en-US" dirty="0">
                <a:latin typeface="HSBI Lausanne 300"/>
              </a:rPr>
              <a:t> and </a:t>
            </a:r>
            <a:r>
              <a:rPr lang="en-US" b="1" dirty="0">
                <a:latin typeface="HSBI Lausanne 300"/>
              </a:rPr>
              <a:t>effort</a:t>
            </a:r>
            <a:r>
              <a:rPr lang="en-US" dirty="0">
                <a:latin typeface="HSBI Lausanne 300"/>
              </a:rPr>
              <a:t>.</a:t>
            </a:r>
            <a:endParaRPr lang="en-US" b="1" dirty="0"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, Grafiken, Clipart, Grafikdesign enthält.&#10;&#10;KI-generierte Inhalte können fehlerhaft sein.">
            <a:extLst>
              <a:ext uri="{FF2B5EF4-FFF2-40B4-BE49-F238E27FC236}">
                <a16:creationId xmlns:a16="http://schemas.microsoft.com/office/drawing/2014/main" id="{FA36C31A-1069-46EC-736D-69563DE59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590" y="1844640"/>
            <a:ext cx="2520531" cy="252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To generate a map of the environment including the stations of the IoT factory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 enthält.&#10;&#10;KI-generierte Inhalte können fehlerhaft sein.">
            <a:extLst>
              <a:ext uri="{FF2B5EF4-FFF2-40B4-BE49-F238E27FC236}">
                <a16:creationId xmlns:a16="http://schemas.microsoft.com/office/drawing/2014/main" id="{F99D1F05-4059-D1B1-3CAF-D0D233C286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278" y="1800360"/>
            <a:ext cx="2884562" cy="2884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by which a mobile robot build a map of the environment and, at the same time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Graph-based SLAM with Pose Graph Optimization, etc.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 (Graph-based SLAM)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(odometry constraint,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 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242424"/>
                </a:solidFill>
                <a:latin typeface="HSBI Lausanne 300"/>
              </a:rPr>
              <a:t>It </a:t>
            </a:r>
            <a:r>
              <a:rPr lang="en-US" b="0" i="0" dirty="0">
                <a:solidFill>
                  <a:srgbClr val="242424"/>
                </a:solidFill>
                <a:effectLst/>
                <a:latin typeface="HSBI Lausanne 300"/>
              </a:rPr>
              <a:t>is a technique to improve the estimated poses (positions and orientations) of a robot as it moves through an environment.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to minimize the errors in the estimated poses by considering the relationships and constraints between them.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This is typically achieved by minimizing a global error function.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 This function measures the difference between the observed constraints and the predicted constraints based on the current pose estimates.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optimization process adjusts the poses to reduce this error, resulting in a more accurate and consistent set of poses.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04594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9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lang="de-DE" sz="900" b="0" strike="noStrike" spc="-1" dirty="0">
              <a:solidFill>
                <a:schemeClr val="dk1"/>
              </a:solidFill>
              <a:latin typeface="Times New Roman"/>
              <a:ea typeface="DejaVu Sans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27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28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rewires the tree by looking at nearby nodes within a certain radius and tries to find a shorter path from the new node back to the start.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Map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.mat File: Contains the occupancy grid map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yaml</a:t>
            </a:r>
            <a:r>
              <a:rPr lang="en-US" dirty="0">
                <a:effectLst/>
                <a:latin typeface="HSBI Lausanne 300"/>
              </a:rPr>
              <a:t> File: Stores image metadata for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pgm</a:t>
            </a:r>
            <a:r>
              <a:rPr lang="en-US" dirty="0">
                <a:effectLst/>
                <a:latin typeface="HSBI Lausanne 300"/>
              </a:rPr>
              <a:t> File: Grayscale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png</a:t>
            </a:r>
            <a:r>
              <a:rPr lang="en-US" dirty="0">
                <a:effectLst/>
                <a:latin typeface="HSBI Lausanne 300"/>
              </a:rPr>
              <a:t> File: Grayscale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3536" y="2323970"/>
            <a:ext cx="4494470" cy="385103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E5476E4-18AA-2C71-7445-862E191A0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740414" y="1932496"/>
            <a:ext cx="3851029" cy="463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9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Video of Map Generation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067351" y="2569566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9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with Different Data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2D6035E6-9879-D953-CDFF-6225C0D8C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7200" y="2518535"/>
            <a:ext cx="4036568" cy="349835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C462022E-9B4D-A87C-0460-C69EF6EE2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2512282"/>
            <a:ext cx="4169230" cy="349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50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with Different Data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 descr="Ein Bild, das Entwurf, Zeichnung, Darstellung, Clipart enthält.&#10;&#10;KI-generierte Inhalte können fehlerhaft sein.">
            <a:extLst>
              <a:ext uri="{FF2B5EF4-FFF2-40B4-BE49-F238E27FC236}">
                <a16:creationId xmlns:a16="http://schemas.microsoft.com/office/drawing/2014/main" id="{23A4F657-AFED-8F1A-DCF0-5CD32D404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0696" y="2471058"/>
            <a:ext cx="4036568" cy="368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454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Path Network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effectLst/>
                <a:latin typeface="HSBI Lausanne 300"/>
              </a:rPr>
              <a:t>navigation-paths.xml: </a:t>
            </a:r>
            <a:r>
              <a:rPr lang="en-US" dirty="0">
                <a:effectLst/>
                <a:latin typeface="HSBI Lausanne 300"/>
              </a:rPr>
              <a:t>contains navigation paths between nodes (</a:t>
            </a:r>
            <a:r>
              <a:rPr lang="en-US" dirty="0" err="1">
                <a:effectLst/>
                <a:latin typeface="HSBI Lausanne 300"/>
              </a:rPr>
              <a:t>docking+parking</a:t>
            </a:r>
            <a:r>
              <a:rPr lang="en-US" dirty="0">
                <a:latin typeface="HSBI Lausanne 300"/>
              </a:rPr>
              <a:t>)</a:t>
            </a:r>
            <a:r>
              <a:rPr lang="en-US" dirty="0">
                <a:effectLst/>
                <a:latin typeface="HSBI Lausanne 300"/>
              </a:rPr>
              <a:t>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effectLst/>
                <a:latin typeface="HSBI Lausanne 300"/>
              </a:rPr>
              <a:t>positions.lisp</a:t>
            </a:r>
            <a:r>
              <a:rPr lang="de-DE" dirty="0">
                <a:effectLst/>
                <a:latin typeface="HSBI Lausanne 300"/>
              </a:rPr>
              <a:t>: </a:t>
            </a:r>
            <a:r>
              <a:rPr lang="en-US" dirty="0">
                <a:effectLst/>
                <a:latin typeface="HSBI Lausanne 300"/>
              </a:rPr>
              <a:t>A LISP file listing the coordinates of all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effectLst/>
                <a:latin typeface="HSBI Lausanne 300"/>
              </a:rPr>
              <a:t>stations.lisp</a:t>
            </a:r>
            <a:r>
              <a:rPr lang="en-US" dirty="0">
                <a:effectLst/>
                <a:latin typeface="HSBI Lausanne 300"/>
              </a:rPr>
              <a:t>: A LISP file containing station coordinates and their closest associated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Network Generated by RRT* and A* on IOT Factory’s Map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57" y="2452957"/>
            <a:ext cx="5751787" cy="3577729"/>
          </a:xfrm>
          <a:prstGeom prst="rect">
            <a:avLst/>
          </a:prstGeom>
        </p:spPr>
      </p:pic>
      <p:pic>
        <p:nvPicPr>
          <p:cNvPr id="2" name="Grafik 1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544" y="2452957"/>
            <a:ext cx="5560295" cy="349431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8BEECE4-5EA0-744E-1222-4955120BE313}"/>
              </a:ext>
            </a:extLst>
          </p:cNvPr>
          <p:cNvSpPr txBox="1"/>
          <p:nvPr/>
        </p:nvSpPr>
        <p:spPr>
          <a:xfrm>
            <a:off x="2090058" y="598556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RRT*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185D8C8-F40C-F8E0-DFF2-F8F1F003D603}"/>
              </a:ext>
            </a:extLst>
          </p:cNvPr>
          <p:cNvSpPr txBox="1"/>
          <p:nvPr/>
        </p:nvSpPr>
        <p:spPr>
          <a:xfrm>
            <a:off x="7659986" y="597449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A*</a:t>
            </a:r>
          </a:p>
        </p:txBody>
      </p:sp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 and A* on Warehouse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9344" y="2376757"/>
            <a:ext cx="4539456" cy="37520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6497" y="2376757"/>
            <a:ext cx="4648303" cy="389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017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Strengths of The Approach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drift is mitigated through loop closure detection.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Pose graph optimization ensured globally consistent and robust map construction.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A* algorithm produced optimal and shortest paths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RRT* algorithm is also producing fairly optimal paths.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 err="1">
                <a:effectLst/>
                <a:latin typeface="HSBI Lausanne 300"/>
              </a:rPr>
              <a:t>Limitations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Generated map of IOT factory is not better because: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only using LiDAR data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LiDAR data collection not in a proper way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Prebuilt map is using to generate optimized path network on the map.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005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C</a:t>
            </a:r>
            <a:r>
              <a:rPr lang="de-DE" b="1" dirty="0">
                <a:effectLst/>
                <a:latin typeface="HSBI Lausanne 300"/>
              </a:rPr>
              <a:t>hallenges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Getting an optimized path network on map requires extensive work: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Need to set world co-ordinate origin properly for the map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So that, all nodes, stations, and docking points must align properly on the map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Sometimes, the generated maps are tilted or oriented, then transformation of them is required.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Converting the result of path network generation into Festo Software compatible format is difficult.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Performed custom mapping to get navigation-paths.xml, </a:t>
            </a:r>
            <a:r>
              <a:rPr lang="en-US" dirty="0" err="1">
                <a:latin typeface="HSBI Lausanne 300"/>
              </a:rPr>
              <a:t>stations.lisp</a:t>
            </a:r>
            <a:r>
              <a:rPr lang="en-US" dirty="0">
                <a:latin typeface="HSBI Lausanne 300"/>
              </a:rPr>
              <a:t>, and </a:t>
            </a:r>
            <a:r>
              <a:rPr lang="en-US" dirty="0" err="1">
                <a:latin typeface="HSBI Lausanne 300"/>
              </a:rPr>
              <a:t>positions.lisp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8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strike="noStrike" spc="-1" dirty="0">
                <a:solidFill>
                  <a:srgbClr val="000000"/>
                </a:solidFill>
                <a:latin typeface="HSBI Lausanne 300"/>
              </a:rPr>
              <a:t>Future Work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Integrating odometry and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IMU data to generate better occupancy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Using more sophisticated SLAM algorithms like </a:t>
            </a:r>
            <a:r>
              <a:rPr lang="de-DE" dirty="0" err="1">
                <a:latin typeface="HSBI Lausanne 300"/>
              </a:rPr>
              <a:t>Cartographer</a:t>
            </a:r>
            <a:r>
              <a:rPr lang="de-DE" dirty="0">
                <a:latin typeface="HSBI Lausanne 300"/>
              </a:rPr>
              <a:t>, LOAM, etc.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Working with different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Testing the generated path networks on </a:t>
            </a:r>
            <a:r>
              <a:rPr lang="en-US" spc="-1" dirty="0" err="1">
                <a:solidFill>
                  <a:srgbClr val="000000"/>
                </a:solidFill>
                <a:latin typeface="HSBI Lausanne 300"/>
              </a:rPr>
              <a:t>Robotino’s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Festo Software.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02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2314</Words>
  <Application>Microsoft Office PowerPoint</Application>
  <PresentationFormat>Breitbild</PresentationFormat>
  <Paragraphs>449</Paragraphs>
  <Slides>47</Slides>
  <Notes>47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47</vt:i4>
      </vt:variant>
    </vt:vector>
  </HeadingPairs>
  <TitlesOfParts>
    <vt:vector size="58" baseType="lpstr">
      <vt:lpstr>-apple-system</vt:lpstr>
      <vt:lpstr>Arial</vt:lpstr>
      <vt:lpstr>Google Sans</vt:lpstr>
      <vt:lpstr>HSBI Lausanne 300</vt:lpstr>
      <vt:lpstr>source-serif-pro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1671</cp:revision>
  <dcterms:created xsi:type="dcterms:W3CDTF">2022-09-29T08:30:07Z</dcterms:created>
  <dcterms:modified xsi:type="dcterms:W3CDTF">2025-09-19T07:50:03Z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